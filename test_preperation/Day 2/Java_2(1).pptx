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iAF/pR7HpHhN6S9RkOwHIHdDp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0"/>
          <p:cNvSpPr/>
          <p:nvPr>
            <p:ph idx="2" type="pic"/>
          </p:nvPr>
        </p:nvSpPr>
        <p:spPr>
          <a:xfrm>
            <a:off x="1792288" y="612775"/>
            <a:ext cx="5486400" cy="4114800"/>
          </a:xfrm>
          <a:prstGeom prst="rect">
            <a:avLst/>
          </a:prstGeom>
          <a:noFill/>
          <a:ln>
            <a:noFill/>
          </a:ln>
        </p:spPr>
      </p:sp>
      <p:sp>
        <p:nvSpPr>
          <p:cNvPr id="64" name="Google Shape;64;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pic>
        <p:nvPicPr>
          <p:cNvPr id="86" name="Google Shape;86;p1"/>
          <p:cNvPicPr preferRelativeResize="0"/>
          <p:nvPr/>
        </p:nvPicPr>
        <p:blipFill>
          <a:blip r:embed="rId3">
            <a:alphaModFix/>
          </a:blip>
          <a:stretch>
            <a:fillRect/>
          </a:stretch>
        </p:blipFill>
        <p:spPr>
          <a:xfrm>
            <a:off x="0" y="0"/>
            <a:ext cx="6400800" cy="3600450"/>
          </a:xfrm>
          <a:prstGeom prst="rect">
            <a:avLst/>
          </a:prstGeom>
          <a:noFill/>
          <a:ln>
            <a:noFill/>
          </a:ln>
        </p:spPr>
      </p:pic>
      <p:pic>
        <p:nvPicPr>
          <p:cNvPr id="87" name="Google Shape;87;p1"/>
          <p:cNvPicPr preferRelativeResize="0"/>
          <p:nvPr/>
        </p:nvPicPr>
        <p:blipFill>
          <a:blip r:embed="rId4">
            <a:alphaModFix/>
          </a:blip>
          <a:stretch>
            <a:fillRect/>
          </a:stretch>
        </p:blipFill>
        <p:spPr>
          <a:xfrm>
            <a:off x="4832925" y="2388100"/>
            <a:ext cx="4311075" cy="4469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93" name="Google Shape;93;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The </a:t>
            </a:r>
            <a:r>
              <a:rPr b="1" lang="en-US"/>
              <a:t>Java Development Kit (JDK)</a:t>
            </a:r>
            <a:r>
              <a:rPr lang="en-US"/>
              <a:t> is a software development environment used for developing Java applications and applets. It provides tools and libraries required for Java development, as well as the runtime environment for running Java programs.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99" name="Google Shape;9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Core Components of the JDK </a:t>
            </a:r>
            <a:endParaRPr/>
          </a:p>
          <a:p>
            <a:pPr indent="-342900" lvl="0" marL="342900" rtl="0" algn="l">
              <a:spcBef>
                <a:spcPts val="640"/>
              </a:spcBef>
              <a:spcAft>
                <a:spcPts val="0"/>
              </a:spcAft>
              <a:buClr>
                <a:schemeClr val="dk1"/>
              </a:buClr>
              <a:buSzPts val="3200"/>
              <a:buChar char="•"/>
            </a:pPr>
            <a:r>
              <a:rPr lang="en-US"/>
              <a:t>Java Compiler </a:t>
            </a:r>
            <a:endParaRPr/>
          </a:p>
          <a:p>
            <a:pPr indent="-342900" lvl="0" marL="342900" rtl="0" algn="just">
              <a:spcBef>
                <a:spcPts val="640"/>
              </a:spcBef>
              <a:spcAft>
                <a:spcPts val="0"/>
              </a:spcAft>
              <a:buClr>
                <a:schemeClr val="dk1"/>
              </a:buClr>
              <a:buSzPts val="3200"/>
              <a:buChar char="•"/>
            </a:pPr>
            <a:r>
              <a:rPr lang="en-US"/>
              <a:t>Java Virtual Machine (JVM) </a:t>
            </a:r>
            <a:endParaRPr/>
          </a:p>
          <a:p>
            <a:pPr indent="-342900" lvl="0" marL="342900" rtl="0" algn="just">
              <a:spcBef>
                <a:spcPts val="640"/>
              </a:spcBef>
              <a:spcAft>
                <a:spcPts val="0"/>
              </a:spcAft>
              <a:buClr>
                <a:schemeClr val="dk1"/>
              </a:buClr>
              <a:buSzPts val="3200"/>
              <a:buChar char="•"/>
            </a:pPr>
            <a:r>
              <a:rPr lang="en-US"/>
              <a:t>Java Runtime Environment (JRE) </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05" name="Google Shape;105;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b="1" lang="en-US"/>
              <a:t>Java Compiler (javac)</a:t>
            </a:r>
            <a:endParaRPr/>
          </a:p>
          <a:p>
            <a:pPr indent="-342900" lvl="0" marL="342900" rtl="0" algn="l">
              <a:spcBef>
                <a:spcPts val="592"/>
              </a:spcBef>
              <a:spcAft>
                <a:spcPts val="0"/>
              </a:spcAft>
              <a:buClr>
                <a:schemeClr val="dk1"/>
              </a:buClr>
              <a:buSzPct val="100000"/>
              <a:buChar char="•"/>
            </a:pPr>
            <a:r>
              <a:rPr lang="en-US"/>
              <a:t>javac is the </a:t>
            </a:r>
            <a:r>
              <a:rPr b="1" lang="en-US"/>
              <a:t>Java Compiler</a:t>
            </a:r>
            <a:r>
              <a:rPr lang="en-US"/>
              <a:t> that translates Java source code written in .java files into </a:t>
            </a:r>
            <a:r>
              <a:rPr b="1" lang="en-US"/>
              <a:t>Java bytecode</a:t>
            </a:r>
            <a:r>
              <a:rPr lang="en-US"/>
              <a:t>, which is stored in .class files.</a:t>
            </a:r>
            <a:endParaRPr/>
          </a:p>
          <a:p>
            <a:pPr indent="-342900" lvl="0" marL="342900" rtl="0" algn="l">
              <a:spcBef>
                <a:spcPts val="592"/>
              </a:spcBef>
              <a:spcAft>
                <a:spcPts val="0"/>
              </a:spcAft>
              <a:buClr>
                <a:schemeClr val="dk1"/>
              </a:buClr>
              <a:buSzPct val="100000"/>
              <a:buChar char="•"/>
            </a:pPr>
            <a:r>
              <a:rPr b="1" lang="en-US"/>
              <a:t>Key Features of javac:</a:t>
            </a:r>
            <a:endParaRPr/>
          </a:p>
          <a:p>
            <a:pPr indent="-342900" lvl="0" marL="342900" rtl="0" algn="l">
              <a:spcBef>
                <a:spcPts val="592"/>
              </a:spcBef>
              <a:spcAft>
                <a:spcPts val="0"/>
              </a:spcAft>
              <a:buClr>
                <a:schemeClr val="dk1"/>
              </a:buClr>
              <a:buSzPct val="100000"/>
              <a:buChar char="•"/>
            </a:pPr>
            <a:r>
              <a:rPr b="1" lang="en-US"/>
              <a:t>Input</a:t>
            </a:r>
            <a:r>
              <a:rPr lang="en-US"/>
              <a:t>:</a:t>
            </a:r>
            <a:endParaRPr/>
          </a:p>
          <a:p>
            <a:pPr indent="-285750" lvl="1" marL="742950" rtl="0" algn="l">
              <a:spcBef>
                <a:spcPts val="518"/>
              </a:spcBef>
              <a:spcAft>
                <a:spcPts val="0"/>
              </a:spcAft>
              <a:buClr>
                <a:schemeClr val="dk1"/>
              </a:buClr>
              <a:buSzPct val="100000"/>
              <a:buChar char="–"/>
            </a:pPr>
            <a:r>
              <a:rPr lang="en-US"/>
              <a:t>Takes .java source files as input.</a:t>
            </a:r>
            <a:endParaRPr/>
          </a:p>
          <a:p>
            <a:pPr indent="-342900" lvl="0" marL="342900" rtl="0" algn="l">
              <a:spcBef>
                <a:spcPts val="592"/>
              </a:spcBef>
              <a:spcAft>
                <a:spcPts val="0"/>
              </a:spcAft>
              <a:buClr>
                <a:schemeClr val="dk1"/>
              </a:buClr>
              <a:buSzPct val="100000"/>
              <a:buChar char="•"/>
            </a:pPr>
            <a:r>
              <a:rPr b="1" lang="en-US"/>
              <a:t>Output</a:t>
            </a:r>
            <a:r>
              <a:rPr lang="en-US"/>
              <a:t>:</a:t>
            </a:r>
            <a:endParaRPr/>
          </a:p>
          <a:p>
            <a:pPr indent="-285750" lvl="1" marL="742950" rtl="0" algn="l">
              <a:spcBef>
                <a:spcPts val="518"/>
              </a:spcBef>
              <a:spcAft>
                <a:spcPts val="0"/>
              </a:spcAft>
              <a:buClr>
                <a:schemeClr val="dk1"/>
              </a:buClr>
              <a:buSzPct val="100000"/>
              <a:buChar char="–"/>
            </a:pPr>
            <a:r>
              <a:rPr lang="en-US"/>
              <a:t>Produces .class files containing platform-independent bytecode.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11" name="Google Shape;111;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Command Syntax</a:t>
            </a:r>
            <a:r>
              <a:rPr lang="en-US"/>
              <a:t>:</a:t>
            </a:r>
            <a:endParaRPr/>
          </a:p>
          <a:p>
            <a:pPr indent="-285750" lvl="1" marL="742950" rtl="0" algn="l">
              <a:spcBef>
                <a:spcPts val="560"/>
              </a:spcBef>
              <a:spcAft>
                <a:spcPts val="0"/>
              </a:spcAft>
              <a:buClr>
                <a:schemeClr val="dk1"/>
              </a:buClr>
              <a:buSzPts val="2800"/>
              <a:buChar char="–"/>
            </a:pPr>
            <a:r>
              <a:rPr lang="en-US"/>
              <a:t>Basic: javac MyProgram.java</a:t>
            </a:r>
            <a:endParaRPr/>
          </a:p>
          <a:p>
            <a:pPr indent="-285750" lvl="1" marL="742950" rtl="0" algn="l">
              <a:spcBef>
                <a:spcPts val="560"/>
              </a:spcBef>
              <a:spcAft>
                <a:spcPts val="0"/>
              </a:spcAft>
              <a:buClr>
                <a:schemeClr val="dk1"/>
              </a:buClr>
              <a:buSzPts val="2800"/>
              <a:buChar char="–"/>
            </a:pPr>
            <a:r>
              <a:rPr lang="en-US"/>
              <a:t>Compile all .java files in a directory: javac *.java</a:t>
            </a:r>
            <a:endParaRPr/>
          </a:p>
          <a:p>
            <a:pPr indent="-285750" lvl="1" marL="742950" rtl="0" algn="l">
              <a:spcBef>
                <a:spcPts val="560"/>
              </a:spcBef>
              <a:spcAft>
                <a:spcPts val="0"/>
              </a:spcAft>
              <a:buClr>
                <a:schemeClr val="dk1"/>
              </a:buClr>
              <a:buSzPts val="2800"/>
              <a:buChar char="–"/>
            </a:pPr>
            <a:r>
              <a:rPr lang="en-US"/>
              <a:t>Specify output directory: javac -d &lt;output-dir&gt; MyProgram.java</a:t>
            </a:r>
            <a:endParaRPr/>
          </a:p>
          <a:p>
            <a:pPr indent="-342900" lvl="0" marL="342900" rtl="0" algn="l">
              <a:spcBef>
                <a:spcPts val="640"/>
              </a:spcBef>
              <a:spcAft>
                <a:spcPts val="0"/>
              </a:spcAft>
              <a:buClr>
                <a:schemeClr val="dk1"/>
              </a:buClr>
              <a:buSzPts val="3200"/>
              <a:buChar char="•"/>
            </a:pPr>
            <a:r>
              <a:rPr b="1" lang="en-US"/>
              <a:t>Error Reporting</a:t>
            </a:r>
            <a:r>
              <a:rPr lang="en-US"/>
              <a:t>:</a:t>
            </a:r>
            <a:endParaRPr/>
          </a:p>
          <a:p>
            <a:pPr indent="-285750" lvl="1" marL="742950" rtl="0" algn="l">
              <a:spcBef>
                <a:spcPts val="560"/>
              </a:spcBef>
              <a:spcAft>
                <a:spcPts val="0"/>
              </a:spcAft>
              <a:buClr>
                <a:schemeClr val="dk1"/>
              </a:buClr>
              <a:buSzPts val="2800"/>
              <a:buChar char="–"/>
            </a:pPr>
            <a:r>
              <a:rPr lang="en-US"/>
              <a:t>Highlights syntax and compilation errors during the process.</a:t>
            </a:r>
            <a:endParaRPr/>
          </a:p>
          <a:p>
            <a:pPr indent="-139700" lvl="0" marL="342900" rtl="0" algn="just">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17" name="Google Shape;11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t>Java Virtual Machine(JVM )</a:t>
            </a:r>
            <a:endParaRPr/>
          </a:p>
          <a:p>
            <a:pPr indent="-342900" lvl="0" marL="342900" rtl="0" algn="l">
              <a:spcBef>
                <a:spcPts val="592"/>
              </a:spcBef>
              <a:spcAft>
                <a:spcPts val="0"/>
              </a:spcAft>
              <a:buClr>
                <a:schemeClr val="dk1"/>
              </a:buClr>
              <a:buSzPct val="100000"/>
              <a:buChar char="•"/>
            </a:pPr>
            <a:r>
              <a:rPr lang="en-US"/>
              <a:t>The </a:t>
            </a:r>
            <a:r>
              <a:rPr b="1" lang="en-US"/>
              <a:t>Java Virtual Machine (JVM)</a:t>
            </a:r>
            <a:r>
              <a:rPr lang="en-US"/>
              <a:t> is a key component of the Java platform that executes Java bytecode. It acts as an interpreter between the bytecode and the underlying hardware/OS.</a:t>
            </a:r>
            <a:endParaRPr/>
          </a:p>
          <a:p>
            <a:pPr indent="-342900" lvl="0" marL="342900" rtl="0" algn="l">
              <a:spcBef>
                <a:spcPts val="592"/>
              </a:spcBef>
              <a:spcAft>
                <a:spcPts val="0"/>
              </a:spcAft>
              <a:buClr>
                <a:schemeClr val="dk1"/>
              </a:buClr>
              <a:buSzPct val="100000"/>
              <a:buChar char="•"/>
            </a:pPr>
            <a:r>
              <a:rPr b="1" lang="en-US"/>
              <a:t>Key Features of the JVM:</a:t>
            </a:r>
            <a:endParaRPr/>
          </a:p>
          <a:p>
            <a:pPr indent="-342900" lvl="0" marL="342900" rtl="0" algn="l">
              <a:spcBef>
                <a:spcPts val="592"/>
              </a:spcBef>
              <a:spcAft>
                <a:spcPts val="0"/>
              </a:spcAft>
              <a:buClr>
                <a:schemeClr val="dk1"/>
              </a:buClr>
              <a:buSzPct val="100000"/>
              <a:buChar char="•"/>
            </a:pPr>
            <a:r>
              <a:rPr b="1" lang="en-US"/>
              <a:t>Platform Independence</a:t>
            </a:r>
            <a:r>
              <a:rPr lang="en-US"/>
              <a:t>:</a:t>
            </a:r>
            <a:endParaRPr/>
          </a:p>
          <a:p>
            <a:pPr indent="-285750" lvl="1" marL="742950" rtl="0" algn="l">
              <a:spcBef>
                <a:spcPts val="518"/>
              </a:spcBef>
              <a:spcAft>
                <a:spcPts val="0"/>
              </a:spcAft>
              <a:buClr>
                <a:schemeClr val="dk1"/>
              </a:buClr>
              <a:buSzPct val="100000"/>
              <a:buChar char="–"/>
            </a:pPr>
            <a:r>
              <a:rPr lang="en-US"/>
              <a:t>JVM abstracts hardware and OS differences, allowing the same bytecode to run on any platform with a compatible JVM.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3" name="Google Shape;123;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Execution</a:t>
            </a:r>
            <a:r>
              <a:rPr lang="en-US"/>
              <a:t>:Converts bytecode to native machine code at runtime.</a:t>
            </a:r>
            <a:endParaRPr/>
          </a:p>
          <a:p>
            <a:pPr indent="-342900" lvl="0" marL="342900" rtl="0" algn="just">
              <a:spcBef>
                <a:spcPts val="640"/>
              </a:spcBef>
              <a:spcAft>
                <a:spcPts val="0"/>
              </a:spcAft>
              <a:buClr>
                <a:schemeClr val="dk1"/>
              </a:buClr>
              <a:buSzPts val="3200"/>
              <a:buChar char="•"/>
            </a:pPr>
            <a:r>
              <a:rPr b="1" lang="en-US"/>
              <a:t>Memory Management</a:t>
            </a:r>
            <a:r>
              <a:rPr lang="en-US"/>
              <a:t>:Manages memory allocation and garbage collection (automatic cleanup of unused objects).</a:t>
            </a:r>
            <a:endParaRPr/>
          </a:p>
          <a:p>
            <a:pPr indent="-342900" lvl="0" marL="342900" rtl="0" algn="just">
              <a:spcBef>
                <a:spcPts val="640"/>
              </a:spcBef>
              <a:spcAft>
                <a:spcPts val="0"/>
              </a:spcAft>
              <a:buClr>
                <a:schemeClr val="dk1"/>
              </a:buClr>
              <a:buSzPts val="3200"/>
              <a:buChar char="•"/>
            </a:pPr>
            <a:r>
              <a:rPr b="1" lang="en-US"/>
              <a:t>Security</a:t>
            </a:r>
            <a:r>
              <a:rPr lang="en-US"/>
              <a:t>:Includes a security manager to enforce restrictions (e.g., accessing the file system).</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29" name="Google Shape;129;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Execution</a:t>
            </a:r>
            <a:r>
              <a:rPr lang="en-US"/>
              <a:t>:Converts bytecode to native machine code at runtime.</a:t>
            </a:r>
            <a:endParaRPr/>
          </a:p>
          <a:p>
            <a:pPr indent="-342900" lvl="0" marL="342900" rtl="0" algn="just">
              <a:spcBef>
                <a:spcPts val="640"/>
              </a:spcBef>
              <a:spcAft>
                <a:spcPts val="0"/>
              </a:spcAft>
              <a:buClr>
                <a:schemeClr val="dk1"/>
              </a:buClr>
              <a:buSzPts val="3200"/>
              <a:buChar char="•"/>
            </a:pPr>
            <a:r>
              <a:rPr b="1" lang="en-US"/>
              <a:t>Memory Management</a:t>
            </a:r>
            <a:r>
              <a:rPr lang="en-US"/>
              <a:t>:Manages memory allocation and garbage collection (automatic cleanup of unused objects).</a:t>
            </a:r>
            <a:endParaRPr/>
          </a:p>
          <a:p>
            <a:pPr indent="-342900" lvl="0" marL="342900" rtl="0" algn="just">
              <a:spcBef>
                <a:spcPts val="640"/>
              </a:spcBef>
              <a:spcAft>
                <a:spcPts val="0"/>
              </a:spcAft>
              <a:buClr>
                <a:schemeClr val="dk1"/>
              </a:buClr>
              <a:buSzPts val="3200"/>
              <a:buChar char="•"/>
            </a:pPr>
            <a:r>
              <a:rPr b="1" lang="en-US"/>
              <a:t>Security</a:t>
            </a:r>
            <a:r>
              <a:rPr lang="en-US"/>
              <a:t>:Includes a security manager to enforce restrictions (e.g., accessing the file system).</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35" name="Google Shape;135;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Lifecycle of JVM Execution:</a:t>
            </a:r>
            <a:endParaRPr/>
          </a:p>
          <a:p>
            <a:pPr indent="-342900" lvl="0" marL="342900" rtl="0" algn="just">
              <a:spcBef>
                <a:spcPts val="640"/>
              </a:spcBef>
              <a:spcAft>
                <a:spcPts val="0"/>
              </a:spcAft>
              <a:buClr>
                <a:schemeClr val="dk1"/>
              </a:buClr>
              <a:buSzPts val="3200"/>
              <a:buChar char="•"/>
            </a:pPr>
            <a:r>
              <a:rPr b="1" lang="en-US"/>
              <a:t>Class Loading</a:t>
            </a:r>
            <a:r>
              <a:rPr lang="en-US"/>
              <a:t>: The JVM loads .class files into memory.</a:t>
            </a:r>
            <a:endParaRPr/>
          </a:p>
          <a:p>
            <a:pPr indent="-342900" lvl="0" marL="342900" rtl="0" algn="just">
              <a:spcBef>
                <a:spcPts val="640"/>
              </a:spcBef>
              <a:spcAft>
                <a:spcPts val="0"/>
              </a:spcAft>
              <a:buClr>
                <a:schemeClr val="dk1"/>
              </a:buClr>
              <a:buSzPts val="3200"/>
              <a:buChar char="•"/>
            </a:pPr>
            <a:r>
              <a:rPr b="1" lang="en-US"/>
              <a:t>Bytecode Verification</a:t>
            </a:r>
            <a:r>
              <a:rPr lang="en-US"/>
              <a:t>: Ensures the bytecode adheres to Java's security and structure rules.</a:t>
            </a:r>
            <a:endParaRPr/>
          </a:p>
          <a:p>
            <a:pPr indent="-342900" lvl="0" marL="342900" rtl="0" algn="just">
              <a:spcBef>
                <a:spcPts val="640"/>
              </a:spcBef>
              <a:spcAft>
                <a:spcPts val="0"/>
              </a:spcAft>
              <a:buClr>
                <a:schemeClr val="dk1"/>
              </a:buClr>
              <a:buSzPts val="3200"/>
              <a:buChar char="•"/>
            </a:pPr>
            <a:r>
              <a:rPr b="1" lang="en-US"/>
              <a:t>Execution</a:t>
            </a:r>
            <a:r>
              <a:rPr lang="en-US"/>
              <a:t>: Bytecode is interpreted or compiled to native machine code by the JIT compiler.</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41" name="Google Shape;141;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t>Components of the JVM:</a:t>
            </a:r>
            <a:endParaRPr/>
          </a:p>
          <a:p>
            <a:pPr indent="-342900" lvl="0" marL="342900" rtl="0" algn="l">
              <a:spcBef>
                <a:spcPts val="592"/>
              </a:spcBef>
              <a:spcAft>
                <a:spcPts val="0"/>
              </a:spcAft>
              <a:buClr>
                <a:schemeClr val="dk1"/>
              </a:buClr>
              <a:buSzPct val="100000"/>
              <a:buChar char="•"/>
            </a:pPr>
            <a:r>
              <a:rPr b="1" lang="en-US"/>
              <a:t>Class Loader</a:t>
            </a:r>
            <a:r>
              <a:rPr lang="en-US"/>
              <a:t>:</a:t>
            </a:r>
            <a:endParaRPr/>
          </a:p>
          <a:p>
            <a:pPr indent="-285750" lvl="1" marL="742950" rtl="0" algn="l">
              <a:spcBef>
                <a:spcPts val="518"/>
              </a:spcBef>
              <a:spcAft>
                <a:spcPts val="0"/>
              </a:spcAft>
              <a:buClr>
                <a:schemeClr val="dk1"/>
              </a:buClr>
              <a:buSzPct val="100000"/>
              <a:buChar char="–"/>
            </a:pPr>
            <a:r>
              <a:rPr lang="en-US"/>
              <a:t>Dynamically loads Java classes.</a:t>
            </a:r>
            <a:endParaRPr/>
          </a:p>
          <a:p>
            <a:pPr indent="-342900" lvl="0" marL="342900" rtl="0" algn="l">
              <a:spcBef>
                <a:spcPts val="592"/>
              </a:spcBef>
              <a:spcAft>
                <a:spcPts val="0"/>
              </a:spcAft>
              <a:buClr>
                <a:schemeClr val="dk1"/>
              </a:buClr>
              <a:buSzPct val="100000"/>
              <a:buChar char="•"/>
            </a:pPr>
            <a:r>
              <a:rPr b="1" lang="en-US"/>
              <a:t>Bytecode Interpreter</a:t>
            </a:r>
            <a:r>
              <a:rPr lang="en-US"/>
              <a:t>:</a:t>
            </a:r>
            <a:endParaRPr/>
          </a:p>
          <a:p>
            <a:pPr indent="-285750" lvl="1" marL="742950" rtl="0" algn="l">
              <a:spcBef>
                <a:spcPts val="518"/>
              </a:spcBef>
              <a:spcAft>
                <a:spcPts val="0"/>
              </a:spcAft>
              <a:buClr>
                <a:schemeClr val="dk1"/>
              </a:buClr>
              <a:buSzPct val="100000"/>
              <a:buChar char="–"/>
            </a:pPr>
            <a:r>
              <a:rPr lang="en-US"/>
              <a:t>Executes bytecode instructions line by line.</a:t>
            </a:r>
            <a:endParaRPr/>
          </a:p>
          <a:p>
            <a:pPr indent="-342900" lvl="0" marL="342900" rtl="0" algn="l">
              <a:spcBef>
                <a:spcPts val="592"/>
              </a:spcBef>
              <a:spcAft>
                <a:spcPts val="0"/>
              </a:spcAft>
              <a:buClr>
                <a:schemeClr val="dk1"/>
              </a:buClr>
              <a:buSzPct val="100000"/>
              <a:buChar char="•"/>
            </a:pPr>
            <a:r>
              <a:rPr b="1" lang="en-US"/>
              <a:t>Heap</a:t>
            </a:r>
            <a:r>
              <a:rPr lang="en-US"/>
              <a:t>:</a:t>
            </a:r>
            <a:endParaRPr/>
          </a:p>
          <a:p>
            <a:pPr indent="-285750" lvl="1" marL="742950" rtl="0" algn="l">
              <a:spcBef>
                <a:spcPts val="518"/>
              </a:spcBef>
              <a:spcAft>
                <a:spcPts val="0"/>
              </a:spcAft>
              <a:buClr>
                <a:schemeClr val="dk1"/>
              </a:buClr>
              <a:buSzPct val="100000"/>
              <a:buChar char="–"/>
            </a:pPr>
            <a:r>
              <a:rPr lang="en-US"/>
              <a:t>Memory area for objects and class instances.</a:t>
            </a:r>
            <a:endParaRPr/>
          </a:p>
          <a:p>
            <a:pPr indent="-342900" lvl="0" marL="342900" rtl="0" algn="l">
              <a:spcBef>
                <a:spcPts val="592"/>
              </a:spcBef>
              <a:spcAft>
                <a:spcPts val="0"/>
              </a:spcAft>
              <a:buClr>
                <a:schemeClr val="dk1"/>
              </a:buClr>
              <a:buSzPct val="100000"/>
              <a:buChar char="•"/>
            </a:pPr>
            <a:r>
              <a:rPr b="1" lang="en-US"/>
              <a:t>Method Area</a:t>
            </a:r>
            <a:r>
              <a:rPr lang="en-US"/>
              <a:t>:</a:t>
            </a:r>
            <a:endParaRPr/>
          </a:p>
          <a:p>
            <a:pPr indent="-285750" lvl="1" marL="742950" rtl="0" algn="l">
              <a:spcBef>
                <a:spcPts val="518"/>
              </a:spcBef>
              <a:spcAft>
                <a:spcPts val="0"/>
              </a:spcAft>
              <a:buClr>
                <a:schemeClr val="dk1"/>
              </a:buClr>
              <a:buSzPct val="100000"/>
              <a:buChar char="–"/>
            </a:pPr>
            <a:r>
              <a:rPr lang="en-US"/>
              <a:t>Stores class-level data (e.g., method metadata, static variables).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47" name="Google Shape;14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Stack</a:t>
            </a:r>
            <a:r>
              <a:rPr lang="en-US"/>
              <a:t>:Memory for method execution (local variables, call frames).</a:t>
            </a:r>
            <a:endParaRPr/>
          </a:p>
          <a:p>
            <a:pPr indent="-342900" lvl="0" marL="342900" rtl="0" algn="just">
              <a:spcBef>
                <a:spcPts val="640"/>
              </a:spcBef>
              <a:spcAft>
                <a:spcPts val="0"/>
              </a:spcAft>
              <a:buClr>
                <a:schemeClr val="dk1"/>
              </a:buClr>
              <a:buSzPts val="3200"/>
              <a:buChar char="•"/>
            </a:pPr>
            <a:r>
              <a:rPr b="1" lang="en-US"/>
              <a:t>Garbage Collector</a:t>
            </a:r>
            <a:r>
              <a:rPr lang="en-US"/>
              <a:t>:Automatically </a:t>
            </a:r>
            <a:r>
              <a:rPr lang="en-US"/>
              <a:t>deallocate</a:t>
            </a:r>
            <a:r>
              <a:rPr lang="en-US"/>
              <a:t> unused memory</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53" name="Google Shape;15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b="1" lang="en-US"/>
              <a:t>JRE (Java Runtime Environment)</a:t>
            </a:r>
            <a:endParaRPr/>
          </a:p>
          <a:p>
            <a:pPr indent="-342900" lvl="0" marL="342900" rtl="0" algn="just">
              <a:spcBef>
                <a:spcPts val="640"/>
              </a:spcBef>
              <a:spcAft>
                <a:spcPts val="0"/>
              </a:spcAft>
              <a:buClr>
                <a:schemeClr val="dk1"/>
              </a:buClr>
              <a:buSzPts val="3200"/>
              <a:buChar char="•"/>
            </a:pPr>
            <a:r>
              <a:rPr lang="en-US"/>
              <a:t>The </a:t>
            </a:r>
            <a:r>
              <a:rPr b="1" lang="en-US"/>
              <a:t>Java Runtime Environment (JRE)</a:t>
            </a:r>
            <a:r>
              <a:rPr lang="en-US"/>
              <a:t> is the runtime environment required to run Java applications. It includes the </a:t>
            </a:r>
            <a:r>
              <a:rPr b="1" lang="en-US"/>
              <a:t>JVM</a:t>
            </a:r>
            <a:r>
              <a:rPr lang="en-US"/>
              <a:t> and Java class libraries but does not include development tools like the compiler.</a:t>
            </a:r>
            <a:endParaRPr/>
          </a:p>
          <a:p>
            <a:pPr indent="-342900" lvl="0" marL="342900" rtl="0" algn="just">
              <a:spcBef>
                <a:spcPts val="640"/>
              </a:spcBef>
              <a:spcAft>
                <a:spcPts val="0"/>
              </a:spcAft>
              <a:buClr>
                <a:schemeClr val="dk1"/>
              </a:buClr>
              <a:buSzPts val="3200"/>
              <a:buChar char="•"/>
            </a:pPr>
            <a:r>
              <a:rPr b="1" lang="en-US"/>
              <a:t>Key Features of the JRE:</a:t>
            </a:r>
            <a:endParaRPr/>
          </a:p>
          <a:p>
            <a:pPr indent="-342900" lvl="0" marL="342900" rtl="0" algn="just">
              <a:spcBef>
                <a:spcPts val="640"/>
              </a:spcBef>
              <a:spcAft>
                <a:spcPts val="0"/>
              </a:spcAft>
              <a:buClr>
                <a:schemeClr val="dk1"/>
              </a:buClr>
              <a:buSzPts val="3200"/>
              <a:buChar char="•"/>
            </a:pPr>
            <a:r>
              <a:rPr b="1" lang="en-US"/>
              <a:t>Includes the JVM</a:t>
            </a:r>
            <a:r>
              <a:rPr lang="en-US"/>
              <a:t>:Enables execution of .class files.</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59" name="Google Shape;159;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Java Libraries</a:t>
            </a:r>
            <a:r>
              <a:rPr lang="en-US"/>
              <a:t>:Includes core Java APIs (java.lang, java.util, etc.) for building applications.</a:t>
            </a:r>
            <a:endParaRPr/>
          </a:p>
          <a:p>
            <a:pPr indent="-342900" lvl="0" marL="342900" rtl="0" algn="just">
              <a:spcBef>
                <a:spcPts val="640"/>
              </a:spcBef>
              <a:spcAft>
                <a:spcPts val="0"/>
              </a:spcAft>
              <a:buClr>
                <a:schemeClr val="dk1"/>
              </a:buClr>
              <a:buSzPts val="3200"/>
              <a:buChar char="•"/>
            </a:pPr>
            <a:r>
              <a:rPr b="1" lang="en-US"/>
              <a:t>Platform-Specific</a:t>
            </a:r>
            <a:r>
              <a:rPr lang="en-US"/>
              <a:t>:The JRE is tailored to specific operating systems and architectures.</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65" name="Google Shape;165;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t>Relationship Between javac, JVM, and JRE</a:t>
            </a:r>
            <a:endParaRPr/>
          </a:p>
          <a:p>
            <a:pPr indent="-342900" lvl="0" marL="342900" rtl="0" algn="l">
              <a:spcBef>
                <a:spcPts val="640"/>
              </a:spcBef>
              <a:spcAft>
                <a:spcPts val="0"/>
              </a:spcAft>
              <a:buClr>
                <a:schemeClr val="dk1"/>
              </a:buClr>
              <a:buSzPts val="3200"/>
              <a:buChar char="•"/>
            </a:pPr>
            <a:r>
              <a:rPr b="1" lang="en-US"/>
              <a:t>Write Code</a:t>
            </a:r>
            <a:r>
              <a:rPr lang="en-US"/>
              <a:t>:</a:t>
            </a:r>
            <a:endParaRPr/>
          </a:p>
          <a:p>
            <a:pPr indent="-285750" lvl="1" marL="742950" rtl="0" algn="l">
              <a:spcBef>
                <a:spcPts val="560"/>
              </a:spcBef>
              <a:spcAft>
                <a:spcPts val="0"/>
              </a:spcAft>
              <a:buClr>
                <a:schemeClr val="dk1"/>
              </a:buClr>
              <a:buSzPts val="2800"/>
              <a:buChar char="–"/>
            </a:pPr>
            <a:r>
              <a:rPr lang="en-US"/>
              <a:t>Developers write Java code in .java files.</a:t>
            </a:r>
            <a:endParaRPr/>
          </a:p>
          <a:p>
            <a:pPr indent="-342900" lvl="0" marL="342900" rtl="0" algn="l">
              <a:spcBef>
                <a:spcPts val="640"/>
              </a:spcBef>
              <a:spcAft>
                <a:spcPts val="0"/>
              </a:spcAft>
              <a:buClr>
                <a:schemeClr val="dk1"/>
              </a:buClr>
              <a:buSzPts val="3200"/>
              <a:buChar char="•"/>
            </a:pPr>
            <a:r>
              <a:rPr b="1" lang="en-US"/>
              <a:t>Compile (javac)</a:t>
            </a:r>
            <a:r>
              <a:rPr lang="en-US"/>
              <a:t>:</a:t>
            </a:r>
            <a:endParaRPr/>
          </a:p>
          <a:p>
            <a:pPr indent="-285750" lvl="1" marL="742950" rtl="0" algn="l">
              <a:spcBef>
                <a:spcPts val="560"/>
              </a:spcBef>
              <a:spcAft>
                <a:spcPts val="0"/>
              </a:spcAft>
              <a:buClr>
                <a:schemeClr val="dk1"/>
              </a:buClr>
              <a:buSzPts val="2800"/>
              <a:buChar char="–"/>
            </a:pPr>
            <a:r>
              <a:rPr lang="en-US"/>
              <a:t>The javac compiler converts the source code into bytecode (.class files).</a:t>
            </a:r>
            <a:endParaRPr/>
          </a:p>
          <a:p>
            <a:pPr indent="-342900" lvl="0" marL="342900" rtl="0" algn="l">
              <a:spcBef>
                <a:spcPts val="640"/>
              </a:spcBef>
              <a:spcAft>
                <a:spcPts val="0"/>
              </a:spcAft>
              <a:buClr>
                <a:schemeClr val="dk1"/>
              </a:buClr>
              <a:buSzPts val="3200"/>
              <a:buChar char="•"/>
            </a:pPr>
            <a:r>
              <a:rPr b="1" lang="en-US"/>
              <a:t>Run (JVM via JRE)</a:t>
            </a:r>
            <a:r>
              <a:rPr lang="en-US"/>
              <a:t>:</a:t>
            </a:r>
            <a:endParaRPr/>
          </a:p>
          <a:p>
            <a:pPr indent="-285750" lvl="1" marL="742950" rtl="0" algn="l">
              <a:spcBef>
                <a:spcPts val="560"/>
              </a:spcBef>
              <a:spcAft>
                <a:spcPts val="0"/>
              </a:spcAft>
              <a:buClr>
                <a:schemeClr val="dk1"/>
              </a:buClr>
              <a:buSzPts val="2800"/>
              <a:buChar char="–"/>
            </a:pPr>
            <a:r>
              <a:rPr lang="en-US"/>
              <a:t>The JVM, part of the JRE, loads and executes the bytecode</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Features of java </a:t>
            </a:r>
            <a:endParaRPr/>
          </a:p>
        </p:txBody>
      </p:sp>
      <p:sp>
        <p:nvSpPr>
          <p:cNvPr id="171" name="Google Shape;17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t>Java is a versatile and powerful programming language widely used for developing various types of applications. </a:t>
            </a:r>
            <a:endParaRPr/>
          </a:p>
          <a:p>
            <a:pPr indent="-342900" lvl="0" marL="342900" rtl="0" algn="just">
              <a:spcBef>
                <a:spcPts val="640"/>
              </a:spcBef>
              <a:spcAft>
                <a:spcPts val="0"/>
              </a:spcAft>
              <a:buClr>
                <a:schemeClr val="dk1"/>
              </a:buClr>
              <a:buSzPts val="3200"/>
              <a:buChar char="•"/>
            </a:pPr>
            <a:r>
              <a:rPr b="1" lang="en-US"/>
              <a:t>Object-Oriented</a:t>
            </a:r>
            <a:endParaRPr/>
          </a:p>
          <a:p>
            <a:pPr indent="-342900" lvl="0" marL="342900" rtl="0" algn="just">
              <a:spcBef>
                <a:spcPts val="640"/>
              </a:spcBef>
              <a:spcAft>
                <a:spcPts val="0"/>
              </a:spcAft>
              <a:buClr>
                <a:schemeClr val="dk1"/>
              </a:buClr>
              <a:buSzPts val="3200"/>
              <a:buChar char="•"/>
            </a:pPr>
            <a:r>
              <a:rPr lang="en-US"/>
              <a:t>Java is based on the object-oriented programming (OOP) paradigm. Core concepts like objects, classes, inheritance, encapsulation, polymorphism, and abstraction are integral to Java.</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77" name="Google Shape;17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b="1" lang="en-US"/>
              <a:t>Platform-Independent</a:t>
            </a:r>
            <a:endParaRPr/>
          </a:p>
          <a:p>
            <a:pPr indent="-342900" lvl="0" marL="342900" rtl="0" algn="just">
              <a:spcBef>
                <a:spcPts val="592"/>
              </a:spcBef>
              <a:spcAft>
                <a:spcPts val="0"/>
              </a:spcAft>
              <a:buClr>
                <a:schemeClr val="dk1"/>
              </a:buClr>
              <a:buSzPct val="100000"/>
              <a:buChar char="•"/>
            </a:pPr>
            <a:r>
              <a:rPr lang="en-US"/>
              <a:t>Java is platform-independent due to its </a:t>
            </a:r>
            <a:r>
              <a:rPr b="1" lang="en-US"/>
              <a:t>"Write Once, Run Anywhere" (WORA) capability. </a:t>
            </a:r>
            <a:r>
              <a:rPr lang="en-US"/>
              <a:t>The code is compiled into bytecode, which can run on any device equipped with a Java Virtual Machine (JVM)</a:t>
            </a:r>
            <a:endParaRPr/>
          </a:p>
          <a:p>
            <a:pPr indent="-342900" lvl="0" marL="342900" rtl="0" algn="just">
              <a:spcBef>
                <a:spcPts val="592"/>
              </a:spcBef>
              <a:spcAft>
                <a:spcPts val="0"/>
              </a:spcAft>
              <a:buClr>
                <a:schemeClr val="dk1"/>
              </a:buClr>
              <a:buSzPct val="100000"/>
              <a:buChar char="•"/>
            </a:pPr>
            <a:r>
              <a:rPr b="1" lang="en-US"/>
              <a:t>Simple</a:t>
            </a:r>
            <a:endParaRPr/>
          </a:p>
          <a:p>
            <a:pPr indent="-342900" lvl="0" marL="342900" rtl="0" algn="just">
              <a:spcBef>
                <a:spcPts val="592"/>
              </a:spcBef>
              <a:spcAft>
                <a:spcPts val="0"/>
              </a:spcAft>
              <a:buClr>
                <a:schemeClr val="dk1"/>
              </a:buClr>
              <a:buSzPct val="100000"/>
              <a:buChar char="•"/>
            </a:pPr>
            <a:r>
              <a:rPr lang="en-US"/>
              <a:t>Java is designed to be easy to learn and use. Its syntax is straightforward and similar to C++, but without complexities like pointers and operator overloading.</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3" name="Google Shape;18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b="1" lang="en-US"/>
              <a:t>Secure</a:t>
            </a:r>
            <a:endParaRPr/>
          </a:p>
          <a:p>
            <a:pPr indent="-342900" lvl="0" marL="342900" rtl="0" algn="just">
              <a:spcBef>
                <a:spcPts val="592"/>
              </a:spcBef>
              <a:spcAft>
                <a:spcPts val="0"/>
              </a:spcAft>
              <a:buClr>
                <a:schemeClr val="dk1"/>
              </a:buClr>
              <a:buSzPct val="100000"/>
              <a:buChar char="•"/>
            </a:pPr>
            <a:r>
              <a:rPr lang="en-US"/>
              <a:t>Java provides a secure environment by avoiding direct memory access and offering built-in security features such as bytecode verification, class loaders, and a robust security manager.</a:t>
            </a:r>
            <a:endParaRPr/>
          </a:p>
          <a:p>
            <a:pPr indent="-342900" lvl="0" marL="342900" rtl="0" algn="just">
              <a:spcBef>
                <a:spcPts val="592"/>
              </a:spcBef>
              <a:spcAft>
                <a:spcPts val="0"/>
              </a:spcAft>
              <a:buClr>
                <a:schemeClr val="dk1"/>
              </a:buClr>
              <a:buSzPct val="100000"/>
              <a:buChar char="•"/>
            </a:pPr>
            <a:r>
              <a:rPr b="1" lang="en-US"/>
              <a:t>Robust</a:t>
            </a:r>
            <a:endParaRPr/>
          </a:p>
          <a:p>
            <a:pPr indent="-342900" lvl="0" marL="342900" rtl="0" algn="just">
              <a:spcBef>
                <a:spcPts val="592"/>
              </a:spcBef>
              <a:spcAft>
                <a:spcPts val="0"/>
              </a:spcAft>
              <a:buClr>
                <a:schemeClr val="dk1"/>
              </a:buClr>
              <a:buSzPct val="100000"/>
              <a:buChar char="•"/>
            </a:pPr>
            <a:r>
              <a:rPr lang="en-US"/>
              <a:t>Java emphasizes reliability with features like exception handling, automatic garbage collection, and strong memory management to avoid errors and crashes.</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9" name="Google Shape;189;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b="1" lang="en-US"/>
              <a:t>Multithreading</a:t>
            </a:r>
            <a:endParaRPr/>
          </a:p>
          <a:p>
            <a:pPr indent="-342900" lvl="0" marL="342900" rtl="0" algn="just">
              <a:spcBef>
                <a:spcPts val="592"/>
              </a:spcBef>
              <a:spcAft>
                <a:spcPts val="0"/>
              </a:spcAft>
              <a:buClr>
                <a:schemeClr val="dk1"/>
              </a:buClr>
              <a:buSzPct val="100000"/>
              <a:buChar char="•"/>
            </a:pPr>
            <a:r>
              <a:rPr lang="en-US"/>
              <a:t>Java supports multithreading, allowing developers to build applications capable of performing multiple tasks simultaneously for better performance and efficiency.</a:t>
            </a:r>
            <a:endParaRPr/>
          </a:p>
          <a:p>
            <a:pPr indent="-342900" lvl="0" marL="342900" rtl="0" algn="just">
              <a:spcBef>
                <a:spcPts val="592"/>
              </a:spcBef>
              <a:spcAft>
                <a:spcPts val="0"/>
              </a:spcAft>
              <a:buClr>
                <a:schemeClr val="dk1"/>
              </a:buClr>
              <a:buSzPct val="100000"/>
              <a:buChar char="•"/>
            </a:pPr>
            <a:r>
              <a:rPr b="1" lang="en-US"/>
              <a:t>Portable</a:t>
            </a:r>
            <a:endParaRPr/>
          </a:p>
          <a:p>
            <a:pPr indent="-342900" lvl="0" marL="342900" rtl="0" algn="just">
              <a:spcBef>
                <a:spcPts val="592"/>
              </a:spcBef>
              <a:spcAft>
                <a:spcPts val="0"/>
              </a:spcAft>
              <a:buClr>
                <a:schemeClr val="dk1"/>
              </a:buClr>
              <a:buSzPct val="100000"/>
              <a:buChar char="•"/>
            </a:pPr>
            <a:r>
              <a:rPr lang="en-US"/>
              <a:t>Java's platform independence and the uniform behavior of its runtime environment make Java applications portable across operating systems and hardware.</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5" name="Google Shape;195;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b="1" lang="en-US"/>
              <a:t>High Performance</a:t>
            </a:r>
            <a:endParaRPr/>
          </a:p>
          <a:p>
            <a:pPr indent="-342900" lvl="0" marL="342900" rtl="0" algn="just">
              <a:spcBef>
                <a:spcPts val="592"/>
              </a:spcBef>
              <a:spcAft>
                <a:spcPts val="0"/>
              </a:spcAft>
              <a:buClr>
                <a:schemeClr val="dk1"/>
              </a:buClr>
              <a:buSzPct val="100000"/>
              <a:buChar char="•"/>
            </a:pPr>
            <a:r>
              <a:rPr lang="en-US"/>
              <a:t>While Java is not as fast as lower-level languages like C++, its Just-In-Time (JIT) compiler and optimized runtime performance make it highly efficient for most use cases.</a:t>
            </a:r>
            <a:endParaRPr/>
          </a:p>
          <a:p>
            <a:pPr indent="-342900" lvl="0" marL="342900" rtl="0" algn="just">
              <a:spcBef>
                <a:spcPts val="592"/>
              </a:spcBef>
              <a:spcAft>
                <a:spcPts val="0"/>
              </a:spcAft>
              <a:buClr>
                <a:schemeClr val="dk1"/>
              </a:buClr>
              <a:buSzPct val="100000"/>
              <a:buChar char="•"/>
            </a:pPr>
            <a:r>
              <a:rPr b="1" lang="en-US"/>
              <a:t>Distributed</a:t>
            </a:r>
            <a:endParaRPr/>
          </a:p>
          <a:p>
            <a:pPr indent="-342900" lvl="0" marL="342900" rtl="0" algn="just">
              <a:spcBef>
                <a:spcPts val="592"/>
              </a:spcBef>
              <a:spcAft>
                <a:spcPts val="0"/>
              </a:spcAft>
              <a:buClr>
                <a:schemeClr val="dk1"/>
              </a:buClr>
              <a:buSzPct val="100000"/>
              <a:buChar char="•"/>
            </a:pPr>
            <a:r>
              <a:rPr lang="en-US"/>
              <a:t>Java facilitates the development of distributed systems through built-in APIs like RMI (Remote Method Invocation) and CORBA. It supports networking and internet-based applications seamlessly.</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1" name="Google Shape;20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Scalable</a:t>
            </a:r>
            <a:endParaRPr/>
          </a:p>
          <a:p>
            <a:pPr indent="-342900" lvl="0" marL="342900" rtl="0" algn="just">
              <a:spcBef>
                <a:spcPts val="640"/>
              </a:spcBef>
              <a:spcAft>
                <a:spcPts val="0"/>
              </a:spcAft>
              <a:buClr>
                <a:schemeClr val="dk1"/>
              </a:buClr>
              <a:buSzPts val="3200"/>
              <a:buChar char="•"/>
            </a:pPr>
            <a:r>
              <a:rPr lang="en-US"/>
              <a:t>Java is suitable for building small applications to large, enterprise-level systems due to its scalability and robustness.</a:t>
            </a:r>
            <a:endParaRPr/>
          </a:p>
          <a:p>
            <a:pPr indent="-342900" lvl="0" marL="342900" rtl="0" algn="just">
              <a:spcBef>
                <a:spcPts val="640"/>
              </a:spcBef>
              <a:spcAft>
                <a:spcPts val="0"/>
              </a:spcAft>
              <a:buClr>
                <a:schemeClr val="dk1"/>
              </a:buClr>
              <a:buSzPts val="3200"/>
              <a:buChar char="•"/>
            </a:pPr>
            <a:r>
              <a:rPr b="1" lang="en-US"/>
              <a:t>Supports Development Frameworks</a:t>
            </a:r>
            <a:endParaRPr/>
          </a:p>
          <a:p>
            <a:pPr indent="-342900" lvl="0" marL="342900" rtl="0" algn="just">
              <a:spcBef>
                <a:spcPts val="640"/>
              </a:spcBef>
              <a:spcAft>
                <a:spcPts val="0"/>
              </a:spcAft>
              <a:buClr>
                <a:schemeClr val="dk1"/>
              </a:buClr>
              <a:buSzPts val="3200"/>
              <a:buChar char="•"/>
            </a:pPr>
            <a:r>
              <a:rPr lang="en-US"/>
              <a:t>Java works with various frameworks like Spring, Hibernate, and Struts, making it easier to build complex and efficient applications.</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7" name="Google Shape;20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Java is statically typed and also a strongly typed language because, in Java, each type of data (such as integer, character, hexadecimal, packed decimal, and so forth) is predefined as part of the programming language and all constants or variables defined for a given program must be described with one of the Java data types.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13" name="Google Shape;21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b="1" lang="en-US"/>
              <a:t>Data types in JAVA </a:t>
            </a:r>
            <a:r>
              <a:rPr lang="en-US"/>
              <a:t>are of different sizes and values that can be stored in the variable that is made as per convenience and circumstances to cover up all test cases. Java has two categories in which data types are segregated</a:t>
            </a:r>
            <a:endParaRPr/>
          </a:p>
          <a:p>
            <a:pPr indent="-342900" lvl="0" marL="342900" rtl="0" algn="just">
              <a:spcBef>
                <a:spcPts val="592"/>
              </a:spcBef>
              <a:spcAft>
                <a:spcPts val="0"/>
              </a:spcAft>
              <a:buClr>
                <a:schemeClr val="dk1"/>
              </a:buClr>
              <a:buSzPct val="100000"/>
              <a:buChar char="•"/>
            </a:pPr>
            <a:r>
              <a:rPr b="1" lang="en-US"/>
              <a:t>Primitive Data Type: </a:t>
            </a:r>
            <a:r>
              <a:rPr lang="en-US"/>
              <a:t>such as boolean, char, int, short, byte, long, float, and double. The Boolean with uppercase B is a wrapper class for the primitive data type boolean in Java.</a:t>
            </a:r>
            <a:endParaRPr/>
          </a:p>
          <a:p>
            <a:pPr indent="-342900" lvl="0" marL="342900" rtl="0" algn="just">
              <a:spcBef>
                <a:spcPts val="592"/>
              </a:spcBef>
              <a:spcAft>
                <a:spcPts val="0"/>
              </a:spcAft>
              <a:buClr>
                <a:schemeClr val="dk1"/>
              </a:buClr>
              <a:buSzPct val="100000"/>
              <a:buChar char="•"/>
            </a:pPr>
            <a:r>
              <a:rPr b="1" lang="en-US"/>
              <a:t>Non-Primitive Data Type or Object Data type: </a:t>
            </a:r>
            <a:r>
              <a:rPr lang="en-US"/>
              <a:t>such as String, Array, etc.</a:t>
            </a:r>
            <a:endParaRPr/>
          </a:p>
          <a:p>
            <a:pPr indent="-154940" lvl="0" marL="342900" rtl="0" algn="just">
              <a:spcBef>
                <a:spcPts val="592"/>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19" name="Google Shape;219;p23"/>
          <p:cNvPicPr preferRelativeResize="0"/>
          <p:nvPr>
            <p:ph idx="1" type="body"/>
          </p:nvPr>
        </p:nvPicPr>
        <p:blipFill rotWithShape="1">
          <a:blip r:embed="rId3">
            <a:alphaModFix/>
          </a:blip>
          <a:srcRect b="0" l="0" r="0" t="0"/>
          <a:stretch/>
        </p:blipFill>
        <p:spPr>
          <a:xfrm>
            <a:off x="304800" y="457200"/>
            <a:ext cx="8610600" cy="5943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25" name="Google Shape;225;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Non-Primitive (Reference) Data Types</a:t>
            </a:r>
            <a:endParaRPr/>
          </a:p>
          <a:p>
            <a:pPr indent="-342900" lvl="0" marL="342900" rtl="0" algn="l">
              <a:spcBef>
                <a:spcPts val="640"/>
              </a:spcBef>
              <a:spcAft>
                <a:spcPts val="0"/>
              </a:spcAft>
              <a:buClr>
                <a:schemeClr val="dk1"/>
              </a:buClr>
              <a:buSzPts val="3200"/>
              <a:buChar char="•"/>
            </a:pPr>
            <a:r>
              <a:rPr lang="en-US"/>
              <a:t>The </a:t>
            </a:r>
            <a:r>
              <a:rPr b="1" lang="en-US"/>
              <a:t>Non-Primitive (Reference) Data Types </a:t>
            </a:r>
            <a:r>
              <a:rPr lang="en-US"/>
              <a:t>will contain a memory address of variable values because the reference types won’t store the variable value directly in memory. They are strings, objects, arrays, etc.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1" name="Google Shape;23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b="1" lang="en-US"/>
              <a:t>1. Strings</a:t>
            </a:r>
            <a:endParaRPr/>
          </a:p>
          <a:p>
            <a:pPr indent="-342900" lvl="0" marL="342900" rtl="0" algn="just">
              <a:spcBef>
                <a:spcPts val="640"/>
              </a:spcBef>
              <a:spcAft>
                <a:spcPts val="0"/>
              </a:spcAft>
              <a:buClr>
                <a:schemeClr val="dk1"/>
              </a:buClr>
              <a:buSzPts val="3200"/>
              <a:buChar char="•"/>
            </a:pPr>
            <a:r>
              <a:rPr b="1" lang="en-US"/>
              <a:t>Strings </a:t>
            </a:r>
            <a:r>
              <a:rPr lang="en-US"/>
              <a:t>are defined as an array of characters. The difference between a character array and a string in Java is, that the string is designed to hold a sequence of characters in a single variable whereas, a character array is a collection of separate char-type entities. Unlike C/C++, Java strings are not terminated with a null character.</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7" name="Google Shape;23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2. Class</a:t>
            </a:r>
            <a:endParaRPr/>
          </a:p>
          <a:p>
            <a:pPr indent="-342900" lvl="0" marL="342900" rtl="0" algn="just">
              <a:spcBef>
                <a:spcPts val="640"/>
              </a:spcBef>
              <a:spcAft>
                <a:spcPts val="0"/>
              </a:spcAft>
              <a:buClr>
                <a:schemeClr val="dk1"/>
              </a:buClr>
              <a:buSzPts val="3200"/>
              <a:buChar char="•"/>
            </a:pPr>
            <a:r>
              <a:rPr lang="en-US"/>
              <a:t>A </a:t>
            </a:r>
            <a:r>
              <a:rPr b="1" lang="en-US"/>
              <a:t> Class </a:t>
            </a:r>
            <a:r>
              <a:rPr lang="en-US"/>
              <a:t>is a user-defined blueprint or prototype from which objects are created.  It represents the set of properties or methods that are common to all objects of one type.</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3" name="Google Shape;24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b="1" lang="en-US"/>
              <a:t>Object</a:t>
            </a:r>
            <a:endParaRPr/>
          </a:p>
          <a:p>
            <a:pPr indent="-342900" lvl="0" marL="342900" rtl="0" algn="just">
              <a:spcBef>
                <a:spcPts val="496"/>
              </a:spcBef>
              <a:spcAft>
                <a:spcPts val="0"/>
              </a:spcAft>
              <a:buClr>
                <a:schemeClr val="dk1"/>
              </a:buClr>
              <a:buSzPct val="100000"/>
              <a:buChar char="•"/>
            </a:pPr>
            <a:r>
              <a:rPr lang="en-US"/>
              <a:t>An </a:t>
            </a:r>
            <a:r>
              <a:rPr b="1" lang="en-US"/>
              <a:t> Object  </a:t>
            </a:r>
            <a:r>
              <a:rPr lang="en-US"/>
              <a:t>is a basic unit of Object-Oriented Programming and represents real-life entities.  A typical Java program creates many objects, which as you know, interact by invoking methods. An object consists of :</a:t>
            </a:r>
            <a:endParaRPr/>
          </a:p>
          <a:p>
            <a:pPr indent="-342900" lvl="0" marL="342900" rtl="0" algn="just">
              <a:spcBef>
                <a:spcPts val="496"/>
              </a:spcBef>
              <a:spcAft>
                <a:spcPts val="0"/>
              </a:spcAft>
              <a:buClr>
                <a:schemeClr val="dk1"/>
              </a:buClr>
              <a:buSzPct val="100000"/>
              <a:buChar char="•"/>
            </a:pPr>
            <a:r>
              <a:rPr b="1" lang="en-US"/>
              <a:t>State </a:t>
            </a:r>
            <a:r>
              <a:rPr lang="en-US"/>
              <a:t>: It is represented by the attributes of an object. It also reflects the properties of an object.</a:t>
            </a:r>
            <a:endParaRPr/>
          </a:p>
          <a:p>
            <a:pPr indent="-342900" lvl="0" marL="342900" rtl="0" algn="just">
              <a:spcBef>
                <a:spcPts val="496"/>
              </a:spcBef>
              <a:spcAft>
                <a:spcPts val="0"/>
              </a:spcAft>
              <a:buClr>
                <a:schemeClr val="dk1"/>
              </a:buClr>
              <a:buSzPct val="100000"/>
              <a:buChar char="•"/>
            </a:pPr>
            <a:r>
              <a:rPr b="1" lang="en-US"/>
              <a:t>Behavior </a:t>
            </a:r>
            <a:r>
              <a:rPr lang="en-US"/>
              <a:t>: It is represented by the methods of an object. It also reflects the response of an object to other objects.</a:t>
            </a:r>
            <a:endParaRPr/>
          </a:p>
          <a:p>
            <a:pPr indent="-342900" lvl="0" marL="342900" rtl="0" algn="just">
              <a:spcBef>
                <a:spcPts val="496"/>
              </a:spcBef>
              <a:spcAft>
                <a:spcPts val="0"/>
              </a:spcAft>
              <a:buClr>
                <a:schemeClr val="dk1"/>
              </a:buClr>
              <a:buSzPct val="100000"/>
              <a:buChar char="•"/>
            </a:pPr>
            <a:r>
              <a:rPr b="1" lang="en-US"/>
              <a:t>Identity </a:t>
            </a:r>
            <a:r>
              <a:rPr lang="en-US"/>
              <a:t>: It gives a unique name to an object and enables one object to interact with other objects.</a:t>
            </a:r>
            <a:endParaRPr/>
          </a:p>
          <a:p>
            <a:pPr indent="-185420" lvl="0" marL="342900" rtl="0" algn="just">
              <a:spcBef>
                <a:spcPts val="496"/>
              </a:spcBef>
              <a:spcAft>
                <a:spcPts val="0"/>
              </a:spcAft>
              <a:buClr>
                <a:schemeClr val="dk1"/>
              </a:buClr>
              <a:buSzPct val="10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9" name="Google Shape;249;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b="1" lang="en-US"/>
              <a:t>Interface</a:t>
            </a:r>
            <a:endParaRPr/>
          </a:p>
          <a:p>
            <a:pPr indent="-342900" lvl="0" marL="342900" rtl="0" algn="just">
              <a:spcBef>
                <a:spcPts val="496"/>
              </a:spcBef>
              <a:spcAft>
                <a:spcPts val="0"/>
              </a:spcAft>
              <a:buClr>
                <a:schemeClr val="dk1"/>
              </a:buClr>
              <a:buSzPct val="100000"/>
              <a:buChar char="•"/>
            </a:pPr>
            <a:r>
              <a:rPr lang="en-US"/>
              <a:t>Like a class, an </a:t>
            </a:r>
            <a:r>
              <a:rPr b="1" lang="en-US"/>
              <a:t> Interface </a:t>
            </a:r>
            <a:r>
              <a:rPr lang="en-US"/>
              <a:t>can have methods and variables, but the methods declared in an interface are by default abstract (only method signature, no body).</a:t>
            </a:r>
            <a:endParaRPr/>
          </a:p>
          <a:p>
            <a:pPr indent="-342900" lvl="0" marL="342900" rtl="0" algn="just">
              <a:spcBef>
                <a:spcPts val="496"/>
              </a:spcBef>
              <a:spcAft>
                <a:spcPts val="0"/>
              </a:spcAft>
              <a:buClr>
                <a:schemeClr val="dk1"/>
              </a:buClr>
              <a:buSzPct val="100000"/>
              <a:buChar char="•"/>
            </a:pPr>
            <a:r>
              <a:rPr lang="en-US"/>
              <a:t>Interfaces specify what a class must do and not how. It is the blueprint of the class.</a:t>
            </a:r>
            <a:endParaRPr/>
          </a:p>
          <a:p>
            <a:pPr indent="-342900" lvl="0" marL="342900" rtl="0" algn="just">
              <a:spcBef>
                <a:spcPts val="496"/>
              </a:spcBef>
              <a:spcAft>
                <a:spcPts val="0"/>
              </a:spcAft>
              <a:buClr>
                <a:schemeClr val="dk1"/>
              </a:buClr>
              <a:buSzPct val="100000"/>
              <a:buChar char="•"/>
            </a:pPr>
            <a:r>
              <a:rPr lang="en-US"/>
              <a:t>An Interface is about capabilities like a Player may be an interface and any class implementing Player must be able to (or must implement) move(). So it specifies a set of methods that the class has to implement.</a:t>
            </a:r>
            <a:endParaRPr/>
          </a:p>
          <a:p>
            <a:pPr indent="-342900" lvl="0" marL="342900" rtl="0" algn="just">
              <a:spcBef>
                <a:spcPts val="496"/>
              </a:spcBef>
              <a:spcAft>
                <a:spcPts val="0"/>
              </a:spcAft>
              <a:buClr>
                <a:schemeClr val="dk1"/>
              </a:buClr>
              <a:buSzPct val="100000"/>
              <a:buChar char="•"/>
            </a:pPr>
            <a:r>
              <a:rPr lang="en-US"/>
              <a:t>If a class implements an interface and does not provide method bodies for all functions specified in the interface, then the class must be declared abstract.</a:t>
            </a:r>
            <a:endParaRPr/>
          </a:p>
          <a:p>
            <a:pPr indent="-185420" lvl="0" marL="342900" rtl="0" algn="just">
              <a:spcBef>
                <a:spcPts val="496"/>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55" name="Google Shape;255;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just">
              <a:spcBef>
                <a:spcPts val="0"/>
              </a:spcBef>
              <a:spcAft>
                <a:spcPts val="0"/>
              </a:spcAft>
              <a:buClr>
                <a:schemeClr val="dk1"/>
              </a:buClr>
              <a:buSzPct val="100000"/>
              <a:buChar char="•"/>
            </a:pPr>
            <a:r>
              <a:rPr b="1" lang="en-US"/>
              <a:t> Array</a:t>
            </a:r>
            <a:endParaRPr/>
          </a:p>
          <a:p>
            <a:pPr indent="-342900" lvl="0" marL="342900" rtl="0" algn="just">
              <a:spcBef>
                <a:spcPts val="496"/>
              </a:spcBef>
              <a:spcAft>
                <a:spcPts val="0"/>
              </a:spcAft>
              <a:buClr>
                <a:schemeClr val="dk1"/>
              </a:buClr>
              <a:buSzPct val="100000"/>
              <a:buChar char="•"/>
            </a:pPr>
            <a:r>
              <a:rPr lang="en-US"/>
              <a:t>An </a:t>
            </a:r>
            <a:r>
              <a:rPr b="1" lang="en-US"/>
              <a:t> Array </a:t>
            </a:r>
            <a:r>
              <a:rPr lang="en-US"/>
              <a:t>is a group of like-typed variables that are referred to by a common name.</a:t>
            </a:r>
            <a:endParaRPr/>
          </a:p>
          <a:p>
            <a:pPr indent="-342900" lvl="0" marL="342900" rtl="0" algn="just">
              <a:spcBef>
                <a:spcPts val="496"/>
              </a:spcBef>
              <a:spcAft>
                <a:spcPts val="0"/>
              </a:spcAft>
              <a:buClr>
                <a:schemeClr val="dk1"/>
              </a:buClr>
              <a:buSzPct val="100000"/>
              <a:buChar char="•"/>
            </a:pPr>
            <a:r>
              <a:rPr lang="en-US"/>
              <a:t>Since arrays are objects in Java, we can find their length using member length. This is different from C/C++ where we find length using size.</a:t>
            </a:r>
            <a:endParaRPr/>
          </a:p>
          <a:p>
            <a:pPr indent="-342900" lvl="0" marL="342900" rtl="0" algn="just">
              <a:spcBef>
                <a:spcPts val="496"/>
              </a:spcBef>
              <a:spcAft>
                <a:spcPts val="0"/>
              </a:spcAft>
              <a:buClr>
                <a:schemeClr val="dk1"/>
              </a:buClr>
              <a:buSzPct val="100000"/>
              <a:buChar char="•"/>
            </a:pPr>
            <a:r>
              <a:rPr lang="en-US"/>
              <a:t>A Java array variable can also be declared like other variables with [] after the data type.</a:t>
            </a:r>
            <a:endParaRPr/>
          </a:p>
          <a:p>
            <a:pPr indent="-342900" lvl="0" marL="342900" rtl="0" algn="just">
              <a:spcBef>
                <a:spcPts val="496"/>
              </a:spcBef>
              <a:spcAft>
                <a:spcPts val="0"/>
              </a:spcAft>
              <a:buClr>
                <a:schemeClr val="dk1"/>
              </a:buClr>
              <a:buSzPct val="100000"/>
              <a:buChar char="•"/>
            </a:pPr>
            <a:r>
              <a:rPr lang="en-US"/>
              <a:t>The variables in the array are ordered and each has an index beginning with 0.</a:t>
            </a:r>
            <a:endParaRPr/>
          </a:p>
          <a:p>
            <a:pPr indent="-342900" lvl="0" marL="342900" rtl="0" algn="just">
              <a:spcBef>
                <a:spcPts val="496"/>
              </a:spcBef>
              <a:spcAft>
                <a:spcPts val="0"/>
              </a:spcAft>
              <a:buClr>
                <a:schemeClr val="dk1"/>
              </a:buClr>
              <a:buSzPct val="100000"/>
              <a:buChar char="•"/>
            </a:pPr>
            <a:r>
              <a:rPr lang="en-US"/>
              <a:t>The </a:t>
            </a:r>
            <a:r>
              <a:rPr b="1" lang="en-US"/>
              <a:t>size </a:t>
            </a:r>
            <a:r>
              <a:rPr lang="en-US"/>
              <a:t>of an array must be specified by an int value and not long or short.</a:t>
            </a:r>
            <a:endParaRPr/>
          </a:p>
          <a:p>
            <a:pPr indent="-342900" lvl="0" marL="342900" rtl="0" algn="just">
              <a:spcBef>
                <a:spcPts val="496"/>
              </a:spcBef>
              <a:spcAft>
                <a:spcPts val="0"/>
              </a:spcAft>
              <a:buClr>
                <a:schemeClr val="dk1"/>
              </a:buClr>
              <a:buSzPct val="100000"/>
              <a:buChar char="•"/>
            </a:pPr>
            <a:r>
              <a:rPr lang="en-US"/>
              <a:t>The direct superclass of an array type is </a:t>
            </a:r>
            <a:r>
              <a:rPr b="1" lang="en-US"/>
              <a:t>Object</a:t>
            </a:r>
            <a:r>
              <a:rPr lang="en-US"/>
              <a:t>.</a:t>
            </a:r>
            <a:endParaRPr/>
          </a:p>
          <a:p>
            <a:pPr indent="-185420" lvl="0" marL="342900" rtl="0" algn="just">
              <a:spcBef>
                <a:spcPts val="496"/>
              </a:spcBef>
              <a:spcAft>
                <a:spcPts val="0"/>
              </a:spcAft>
              <a:buClr>
                <a:schemeClr val="dk1"/>
              </a:buClr>
              <a:buSzPct val="100000"/>
              <a:buNone/>
            </a:pPr>
            <a:r>
              <a:t/>
            </a:r>
            <a:endParaRPr/>
          </a:p>
          <a:p>
            <a:pPr indent="-185420" lvl="0" marL="342900" rtl="0" algn="just">
              <a:spcBef>
                <a:spcPts val="496"/>
              </a:spcBef>
              <a:spcAft>
                <a:spcPts val="0"/>
              </a:spcAft>
              <a:buClr>
                <a:schemeClr val="dk1"/>
              </a:buClr>
              <a:buSzPct val="100000"/>
              <a:buNone/>
            </a:pPr>
            <a:r>
              <a:t/>
            </a:r>
            <a:endParaRPr/>
          </a:p>
          <a:p>
            <a:pPr indent="-185420" lvl="0" marL="342900" rtl="0" algn="just">
              <a:spcBef>
                <a:spcPts val="496"/>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1" name="Google Shape;26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2025-01-06T16:09:53Z</dcterms:created>
  <dc:creator>admin1</dc:creator>
</cp:coreProperties>
</file>