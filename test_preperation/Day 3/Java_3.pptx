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58" r:id="rId6"/>
    <p:sldId id="261" r:id="rId7"/>
    <p:sldId id="262" r:id="rId8"/>
    <p:sldId id="263" r:id="rId9"/>
    <p:sldId id="264" r:id="rId10"/>
    <p:sldId id="265" r:id="rId11"/>
    <p:sldId id="266" r:id="rId12"/>
    <p:sldId id="267" r:id="rId13"/>
    <p:sldId id="268" r:id="rId14"/>
    <p:sldId id="269" r:id="rId15"/>
    <p:sldId id="274" r:id="rId16"/>
    <p:sldId id="270" r:id="rId17"/>
    <p:sldId id="275" r:id="rId18"/>
    <p:sldId id="271" r:id="rId19"/>
    <p:sldId id="272" r:id="rId20"/>
    <p:sldId id="273" r:id="rId21"/>
    <p:sldId id="276" r:id="rId22"/>
    <p:sldId id="277" r:id="rId23"/>
    <p:sldId id="278" r:id="rId24"/>
    <p:sldId id="279" r:id="rId25"/>
    <p:sldId id="280" r:id="rId26"/>
    <p:sldId id="281" r:id="rId27"/>
    <p:sldId id="282" r:id="rId28"/>
    <p:sldId id="283" r:id="rId29"/>
    <p:sldId id="284" r:id="rId30"/>
    <p:sldId id="285" r:id="rId31"/>
    <p:sldId id="286" r:id="rId32"/>
    <p:sldId id="291" r:id="rId33"/>
    <p:sldId id="292" r:id="rId34"/>
    <p:sldId id="287" r:id="rId35"/>
    <p:sldId id="288" r:id="rId36"/>
    <p:sldId id="289" r:id="rId37"/>
    <p:sldId id="290" r:id="rId38"/>
    <p:sldId id="293" r:id="rId39"/>
    <p:sldId id="29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0" d="100"/>
          <a:sy n="110" d="100"/>
        </p:scale>
        <p:origin x="4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6A9CF-CF88-4116-B407-8740DF25B4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C309292-BB73-444B-8C42-6E81DE8168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8E8FB7-98B9-4150-B8B0-A501004A3F43}"/>
              </a:ext>
            </a:extLst>
          </p:cNvPr>
          <p:cNvSpPr>
            <a:spLocks noGrp="1"/>
          </p:cNvSpPr>
          <p:nvPr>
            <p:ph type="dt" sz="half" idx="10"/>
          </p:nvPr>
        </p:nvSpPr>
        <p:spPr/>
        <p:txBody>
          <a:bodyPr/>
          <a:lstStyle/>
          <a:p>
            <a:fld id="{ECE7CB18-7C81-41FC-970D-544B991C7FE6}" type="datetimeFigureOut">
              <a:rPr lang="en-IN" smtClean="0"/>
              <a:t>20-01-2025</a:t>
            </a:fld>
            <a:endParaRPr lang="en-IN"/>
          </a:p>
        </p:txBody>
      </p:sp>
      <p:sp>
        <p:nvSpPr>
          <p:cNvPr id="5" name="Footer Placeholder 4">
            <a:extLst>
              <a:ext uri="{FF2B5EF4-FFF2-40B4-BE49-F238E27FC236}">
                <a16:creationId xmlns:a16="http://schemas.microsoft.com/office/drawing/2014/main" id="{B774003D-C855-400E-8EB6-60B7F6486F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237A86-D01F-4CE8-87A6-B1EC93528CCE}"/>
              </a:ext>
            </a:extLst>
          </p:cNvPr>
          <p:cNvSpPr>
            <a:spLocks noGrp="1"/>
          </p:cNvSpPr>
          <p:nvPr>
            <p:ph type="sldNum" sz="quarter" idx="12"/>
          </p:nvPr>
        </p:nvSpPr>
        <p:spPr/>
        <p:txBody>
          <a:bodyPr/>
          <a:lstStyle/>
          <a:p>
            <a:fld id="{765786A9-E78B-470C-AB84-BD0FBF7E0AD4}" type="slidenum">
              <a:rPr lang="en-IN" smtClean="0"/>
              <a:t>‹#›</a:t>
            </a:fld>
            <a:endParaRPr lang="en-IN"/>
          </a:p>
        </p:txBody>
      </p:sp>
    </p:spTree>
    <p:extLst>
      <p:ext uri="{BB962C8B-B14F-4D97-AF65-F5344CB8AC3E}">
        <p14:creationId xmlns:p14="http://schemas.microsoft.com/office/powerpoint/2010/main" val="1089020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79C08-46CB-4523-B674-FE4C958F4B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6C47F2-5D83-4DFD-992B-C5452870E15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DC1253-7567-4E22-8787-A2EE51933EE3}"/>
              </a:ext>
            </a:extLst>
          </p:cNvPr>
          <p:cNvSpPr>
            <a:spLocks noGrp="1"/>
          </p:cNvSpPr>
          <p:nvPr>
            <p:ph type="dt" sz="half" idx="10"/>
          </p:nvPr>
        </p:nvSpPr>
        <p:spPr/>
        <p:txBody>
          <a:bodyPr/>
          <a:lstStyle/>
          <a:p>
            <a:fld id="{ECE7CB18-7C81-41FC-970D-544B991C7FE6}" type="datetimeFigureOut">
              <a:rPr lang="en-IN" smtClean="0"/>
              <a:t>20-01-2025</a:t>
            </a:fld>
            <a:endParaRPr lang="en-IN"/>
          </a:p>
        </p:txBody>
      </p:sp>
      <p:sp>
        <p:nvSpPr>
          <p:cNvPr id="5" name="Footer Placeholder 4">
            <a:extLst>
              <a:ext uri="{FF2B5EF4-FFF2-40B4-BE49-F238E27FC236}">
                <a16:creationId xmlns:a16="http://schemas.microsoft.com/office/drawing/2014/main" id="{92CA21CC-ABC7-4B74-99E4-9338C440EB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98CB49-0D70-4616-8032-3591E3692970}"/>
              </a:ext>
            </a:extLst>
          </p:cNvPr>
          <p:cNvSpPr>
            <a:spLocks noGrp="1"/>
          </p:cNvSpPr>
          <p:nvPr>
            <p:ph type="sldNum" sz="quarter" idx="12"/>
          </p:nvPr>
        </p:nvSpPr>
        <p:spPr/>
        <p:txBody>
          <a:bodyPr/>
          <a:lstStyle/>
          <a:p>
            <a:fld id="{765786A9-E78B-470C-AB84-BD0FBF7E0AD4}" type="slidenum">
              <a:rPr lang="en-IN" smtClean="0"/>
              <a:t>‹#›</a:t>
            </a:fld>
            <a:endParaRPr lang="en-IN"/>
          </a:p>
        </p:txBody>
      </p:sp>
    </p:spTree>
    <p:extLst>
      <p:ext uri="{BB962C8B-B14F-4D97-AF65-F5344CB8AC3E}">
        <p14:creationId xmlns:p14="http://schemas.microsoft.com/office/powerpoint/2010/main" val="3037421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A53D8-55CE-46E0-86CE-0CE34BB109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B36C1AB-E852-464C-AC14-416803D799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49A54BF-553B-4CE8-8612-B41E69A72820}"/>
              </a:ext>
            </a:extLst>
          </p:cNvPr>
          <p:cNvSpPr>
            <a:spLocks noGrp="1"/>
          </p:cNvSpPr>
          <p:nvPr>
            <p:ph type="dt" sz="half" idx="10"/>
          </p:nvPr>
        </p:nvSpPr>
        <p:spPr/>
        <p:txBody>
          <a:bodyPr/>
          <a:lstStyle/>
          <a:p>
            <a:fld id="{ECE7CB18-7C81-41FC-970D-544B991C7FE6}" type="datetimeFigureOut">
              <a:rPr lang="en-IN" smtClean="0"/>
              <a:t>20-01-2025</a:t>
            </a:fld>
            <a:endParaRPr lang="en-IN"/>
          </a:p>
        </p:txBody>
      </p:sp>
      <p:sp>
        <p:nvSpPr>
          <p:cNvPr id="5" name="Footer Placeholder 4">
            <a:extLst>
              <a:ext uri="{FF2B5EF4-FFF2-40B4-BE49-F238E27FC236}">
                <a16:creationId xmlns:a16="http://schemas.microsoft.com/office/drawing/2014/main" id="{3D7E12AD-CD15-446C-BA05-A4E67913F9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264703-0E86-4EE1-9167-7C091B96D492}"/>
              </a:ext>
            </a:extLst>
          </p:cNvPr>
          <p:cNvSpPr>
            <a:spLocks noGrp="1"/>
          </p:cNvSpPr>
          <p:nvPr>
            <p:ph type="sldNum" sz="quarter" idx="12"/>
          </p:nvPr>
        </p:nvSpPr>
        <p:spPr/>
        <p:txBody>
          <a:bodyPr/>
          <a:lstStyle/>
          <a:p>
            <a:fld id="{765786A9-E78B-470C-AB84-BD0FBF7E0AD4}" type="slidenum">
              <a:rPr lang="en-IN" smtClean="0"/>
              <a:t>‹#›</a:t>
            </a:fld>
            <a:endParaRPr lang="en-IN"/>
          </a:p>
        </p:txBody>
      </p:sp>
    </p:spTree>
    <p:extLst>
      <p:ext uri="{BB962C8B-B14F-4D97-AF65-F5344CB8AC3E}">
        <p14:creationId xmlns:p14="http://schemas.microsoft.com/office/powerpoint/2010/main" val="2575248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32D2F-1A2C-4B22-825E-0405005228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8FC1C6-1F44-4A47-B2D1-EA32D37D0CC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E6F0CAC-33B2-4E3B-96A3-725B4E5E2DE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7B9879-3321-4AF1-9308-718FC54AD5F5}"/>
              </a:ext>
            </a:extLst>
          </p:cNvPr>
          <p:cNvSpPr>
            <a:spLocks noGrp="1"/>
          </p:cNvSpPr>
          <p:nvPr>
            <p:ph type="dt" sz="half" idx="10"/>
          </p:nvPr>
        </p:nvSpPr>
        <p:spPr/>
        <p:txBody>
          <a:bodyPr/>
          <a:lstStyle/>
          <a:p>
            <a:fld id="{ECE7CB18-7C81-41FC-970D-544B991C7FE6}" type="datetimeFigureOut">
              <a:rPr lang="en-IN" smtClean="0"/>
              <a:t>20-01-2025</a:t>
            </a:fld>
            <a:endParaRPr lang="en-IN"/>
          </a:p>
        </p:txBody>
      </p:sp>
      <p:sp>
        <p:nvSpPr>
          <p:cNvPr id="6" name="Footer Placeholder 5">
            <a:extLst>
              <a:ext uri="{FF2B5EF4-FFF2-40B4-BE49-F238E27FC236}">
                <a16:creationId xmlns:a16="http://schemas.microsoft.com/office/drawing/2014/main" id="{0F7F614E-F2C5-483F-B8DA-86F1E67263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BE3A44-3B39-4690-BBE6-AA1A41E5CA53}"/>
              </a:ext>
            </a:extLst>
          </p:cNvPr>
          <p:cNvSpPr>
            <a:spLocks noGrp="1"/>
          </p:cNvSpPr>
          <p:nvPr>
            <p:ph type="sldNum" sz="quarter" idx="12"/>
          </p:nvPr>
        </p:nvSpPr>
        <p:spPr/>
        <p:txBody>
          <a:bodyPr/>
          <a:lstStyle/>
          <a:p>
            <a:fld id="{765786A9-E78B-470C-AB84-BD0FBF7E0AD4}" type="slidenum">
              <a:rPr lang="en-IN" smtClean="0"/>
              <a:t>‹#›</a:t>
            </a:fld>
            <a:endParaRPr lang="en-IN"/>
          </a:p>
        </p:txBody>
      </p:sp>
    </p:spTree>
    <p:extLst>
      <p:ext uri="{BB962C8B-B14F-4D97-AF65-F5344CB8AC3E}">
        <p14:creationId xmlns:p14="http://schemas.microsoft.com/office/powerpoint/2010/main" val="94847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B8D0-A94F-4502-AB6C-5F131F6E8F0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DC1C09-9A3F-4332-A313-D07BD8D348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405FAD7-01BF-4A3F-892E-519EA48DD2C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2E7513-C78E-4B67-83F7-72712A4AC8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972F1DF-2098-4D83-95A6-749165CCA1C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4428C9-C1C7-4E81-954A-94B424AD33B2}"/>
              </a:ext>
            </a:extLst>
          </p:cNvPr>
          <p:cNvSpPr>
            <a:spLocks noGrp="1"/>
          </p:cNvSpPr>
          <p:nvPr>
            <p:ph type="dt" sz="half" idx="10"/>
          </p:nvPr>
        </p:nvSpPr>
        <p:spPr/>
        <p:txBody>
          <a:bodyPr/>
          <a:lstStyle/>
          <a:p>
            <a:fld id="{ECE7CB18-7C81-41FC-970D-544B991C7FE6}" type="datetimeFigureOut">
              <a:rPr lang="en-IN" smtClean="0"/>
              <a:t>20-01-2025</a:t>
            </a:fld>
            <a:endParaRPr lang="en-IN"/>
          </a:p>
        </p:txBody>
      </p:sp>
      <p:sp>
        <p:nvSpPr>
          <p:cNvPr id="8" name="Footer Placeholder 7">
            <a:extLst>
              <a:ext uri="{FF2B5EF4-FFF2-40B4-BE49-F238E27FC236}">
                <a16:creationId xmlns:a16="http://schemas.microsoft.com/office/drawing/2014/main" id="{732A8A5E-BF79-4969-96A1-AA72187B273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B1CEBAC-9501-4789-80E9-9CE3E88B2B6E}"/>
              </a:ext>
            </a:extLst>
          </p:cNvPr>
          <p:cNvSpPr>
            <a:spLocks noGrp="1"/>
          </p:cNvSpPr>
          <p:nvPr>
            <p:ph type="sldNum" sz="quarter" idx="12"/>
          </p:nvPr>
        </p:nvSpPr>
        <p:spPr/>
        <p:txBody>
          <a:bodyPr/>
          <a:lstStyle/>
          <a:p>
            <a:fld id="{765786A9-E78B-470C-AB84-BD0FBF7E0AD4}" type="slidenum">
              <a:rPr lang="en-IN" smtClean="0"/>
              <a:t>‹#›</a:t>
            </a:fld>
            <a:endParaRPr lang="en-IN"/>
          </a:p>
        </p:txBody>
      </p:sp>
    </p:spTree>
    <p:extLst>
      <p:ext uri="{BB962C8B-B14F-4D97-AF65-F5344CB8AC3E}">
        <p14:creationId xmlns:p14="http://schemas.microsoft.com/office/powerpoint/2010/main" val="1299867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F6253-503D-453B-A8EA-8B2029B057D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AF4480C-1296-4AB8-91BC-D2C4F60ACB57}"/>
              </a:ext>
            </a:extLst>
          </p:cNvPr>
          <p:cNvSpPr>
            <a:spLocks noGrp="1"/>
          </p:cNvSpPr>
          <p:nvPr>
            <p:ph type="dt" sz="half" idx="10"/>
          </p:nvPr>
        </p:nvSpPr>
        <p:spPr/>
        <p:txBody>
          <a:bodyPr/>
          <a:lstStyle/>
          <a:p>
            <a:fld id="{ECE7CB18-7C81-41FC-970D-544B991C7FE6}" type="datetimeFigureOut">
              <a:rPr lang="en-IN" smtClean="0"/>
              <a:t>20-01-2025</a:t>
            </a:fld>
            <a:endParaRPr lang="en-IN"/>
          </a:p>
        </p:txBody>
      </p:sp>
      <p:sp>
        <p:nvSpPr>
          <p:cNvPr id="4" name="Footer Placeholder 3">
            <a:extLst>
              <a:ext uri="{FF2B5EF4-FFF2-40B4-BE49-F238E27FC236}">
                <a16:creationId xmlns:a16="http://schemas.microsoft.com/office/drawing/2014/main" id="{0789DA3C-D954-4A19-88EB-BFA8A3878F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23FA21-A2CF-4A15-94FC-FBACBDF769EC}"/>
              </a:ext>
            </a:extLst>
          </p:cNvPr>
          <p:cNvSpPr>
            <a:spLocks noGrp="1"/>
          </p:cNvSpPr>
          <p:nvPr>
            <p:ph type="sldNum" sz="quarter" idx="12"/>
          </p:nvPr>
        </p:nvSpPr>
        <p:spPr/>
        <p:txBody>
          <a:bodyPr/>
          <a:lstStyle/>
          <a:p>
            <a:fld id="{765786A9-E78B-470C-AB84-BD0FBF7E0AD4}" type="slidenum">
              <a:rPr lang="en-IN" smtClean="0"/>
              <a:t>‹#›</a:t>
            </a:fld>
            <a:endParaRPr lang="en-IN"/>
          </a:p>
        </p:txBody>
      </p:sp>
    </p:spTree>
    <p:extLst>
      <p:ext uri="{BB962C8B-B14F-4D97-AF65-F5344CB8AC3E}">
        <p14:creationId xmlns:p14="http://schemas.microsoft.com/office/powerpoint/2010/main" val="1140865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24FBCA-6A55-4019-812E-B14E4811B7F0}"/>
              </a:ext>
            </a:extLst>
          </p:cNvPr>
          <p:cNvSpPr>
            <a:spLocks noGrp="1"/>
          </p:cNvSpPr>
          <p:nvPr>
            <p:ph type="dt" sz="half" idx="10"/>
          </p:nvPr>
        </p:nvSpPr>
        <p:spPr/>
        <p:txBody>
          <a:bodyPr/>
          <a:lstStyle/>
          <a:p>
            <a:fld id="{ECE7CB18-7C81-41FC-970D-544B991C7FE6}" type="datetimeFigureOut">
              <a:rPr lang="en-IN" smtClean="0"/>
              <a:t>20-01-2025</a:t>
            </a:fld>
            <a:endParaRPr lang="en-IN"/>
          </a:p>
        </p:txBody>
      </p:sp>
      <p:sp>
        <p:nvSpPr>
          <p:cNvPr id="3" name="Footer Placeholder 2">
            <a:extLst>
              <a:ext uri="{FF2B5EF4-FFF2-40B4-BE49-F238E27FC236}">
                <a16:creationId xmlns:a16="http://schemas.microsoft.com/office/drawing/2014/main" id="{59A5A712-DE5D-46DB-8871-6F1B1EA1D0B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A2A08E8-9C55-4B43-BF50-1F31C3141D0C}"/>
              </a:ext>
            </a:extLst>
          </p:cNvPr>
          <p:cNvSpPr>
            <a:spLocks noGrp="1"/>
          </p:cNvSpPr>
          <p:nvPr>
            <p:ph type="sldNum" sz="quarter" idx="12"/>
          </p:nvPr>
        </p:nvSpPr>
        <p:spPr/>
        <p:txBody>
          <a:bodyPr/>
          <a:lstStyle/>
          <a:p>
            <a:fld id="{765786A9-E78B-470C-AB84-BD0FBF7E0AD4}" type="slidenum">
              <a:rPr lang="en-IN" smtClean="0"/>
              <a:t>‹#›</a:t>
            </a:fld>
            <a:endParaRPr lang="en-IN"/>
          </a:p>
        </p:txBody>
      </p:sp>
    </p:spTree>
    <p:extLst>
      <p:ext uri="{BB962C8B-B14F-4D97-AF65-F5344CB8AC3E}">
        <p14:creationId xmlns:p14="http://schemas.microsoft.com/office/powerpoint/2010/main" val="665002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4236F-5738-46A1-99D3-9D45AB1BA0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D4CDCF-5E6A-4B82-885E-9B3AAD9371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F9B94B-39CF-401D-A3D4-256540C57F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24E9652-3ADF-4F7B-902E-1C58D41D1A2E}"/>
              </a:ext>
            </a:extLst>
          </p:cNvPr>
          <p:cNvSpPr>
            <a:spLocks noGrp="1"/>
          </p:cNvSpPr>
          <p:nvPr>
            <p:ph type="dt" sz="half" idx="10"/>
          </p:nvPr>
        </p:nvSpPr>
        <p:spPr/>
        <p:txBody>
          <a:bodyPr/>
          <a:lstStyle/>
          <a:p>
            <a:fld id="{ECE7CB18-7C81-41FC-970D-544B991C7FE6}" type="datetimeFigureOut">
              <a:rPr lang="en-IN" smtClean="0"/>
              <a:t>20-01-2025</a:t>
            </a:fld>
            <a:endParaRPr lang="en-IN"/>
          </a:p>
        </p:txBody>
      </p:sp>
      <p:sp>
        <p:nvSpPr>
          <p:cNvPr id="6" name="Footer Placeholder 5">
            <a:extLst>
              <a:ext uri="{FF2B5EF4-FFF2-40B4-BE49-F238E27FC236}">
                <a16:creationId xmlns:a16="http://schemas.microsoft.com/office/drawing/2014/main" id="{C521702D-4C37-496B-BFC4-EED9EF9AF2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BAD794-951A-4C89-A9D1-80E52DC9EE66}"/>
              </a:ext>
            </a:extLst>
          </p:cNvPr>
          <p:cNvSpPr>
            <a:spLocks noGrp="1"/>
          </p:cNvSpPr>
          <p:nvPr>
            <p:ph type="sldNum" sz="quarter" idx="12"/>
          </p:nvPr>
        </p:nvSpPr>
        <p:spPr/>
        <p:txBody>
          <a:bodyPr/>
          <a:lstStyle/>
          <a:p>
            <a:fld id="{765786A9-E78B-470C-AB84-BD0FBF7E0AD4}" type="slidenum">
              <a:rPr lang="en-IN" smtClean="0"/>
              <a:t>‹#›</a:t>
            </a:fld>
            <a:endParaRPr lang="en-IN"/>
          </a:p>
        </p:txBody>
      </p:sp>
    </p:spTree>
    <p:extLst>
      <p:ext uri="{BB962C8B-B14F-4D97-AF65-F5344CB8AC3E}">
        <p14:creationId xmlns:p14="http://schemas.microsoft.com/office/powerpoint/2010/main" val="2061847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65E10-3AB2-4697-9DFD-B21814892F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173F693-0896-46F5-B215-139518E6F6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AE1D01-1858-4F63-81FF-E8FEA10A53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F85532D-57FD-473F-8866-8E8F1B285E17}"/>
              </a:ext>
            </a:extLst>
          </p:cNvPr>
          <p:cNvSpPr>
            <a:spLocks noGrp="1"/>
          </p:cNvSpPr>
          <p:nvPr>
            <p:ph type="dt" sz="half" idx="10"/>
          </p:nvPr>
        </p:nvSpPr>
        <p:spPr/>
        <p:txBody>
          <a:bodyPr/>
          <a:lstStyle/>
          <a:p>
            <a:fld id="{ECE7CB18-7C81-41FC-970D-544B991C7FE6}" type="datetimeFigureOut">
              <a:rPr lang="en-IN" smtClean="0"/>
              <a:t>20-01-2025</a:t>
            </a:fld>
            <a:endParaRPr lang="en-IN"/>
          </a:p>
        </p:txBody>
      </p:sp>
      <p:sp>
        <p:nvSpPr>
          <p:cNvPr id="6" name="Footer Placeholder 5">
            <a:extLst>
              <a:ext uri="{FF2B5EF4-FFF2-40B4-BE49-F238E27FC236}">
                <a16:creationId xmlns:a16="http://schemas.microsoft.com/office/drawing/2014/main" id="{8EDD5253-B9DE-4BA3-9CCD-04F7ABC701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ED3438-891D-4AD7-9120-D099FC39AE82}"/>
              </a:ext>
            </a:extLst>
          </p:cNvPr>
          <p:cNvSpPr>
            <a:spLocks noGrp="1"/>
          </p:cNvSpPr>
          <p:nvPr>
            <p:ph type="sldNum" sz="quarter" idx="12"/>
          </p:nvPr>
        </p:nvSpPr>
        <p:spPr/>
        <p:txBody>
          <a:bodyPr/>
          <a:lstStyle/>
          <a:p>
            <a:fld id="{765786A9-E78B-470C-AB84-BD0FBF7E0AD4}" type="slidenum">
              <a:rPr lang="en-IN" smtClean="0"/>
              <a:t>‹#›</a:t>
            </a:fld>
            <a:endParaRPr lang="en-IN"/>
          </a:p>
        </p:txBody>
      </p:sp>
    </p:spTree>
    <p:extLst>
      <p:ext uri="{BB962C8B-B14F-4D97-AF65-F5344CB8AC3E}">
        <p14:creationId xmlns:p14="http://schemas.microsoft.com/office/powerpoint/2010/main" val="2068053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47493-DB03-489A-8484-81A1AD9B564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2220F0-DF00-496F-A3BA-3E3F28A0329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603597-BBD2-4933-B657-954009405768}"/>
              </a:ext>
            </a:extLst>
          </p:cNvPr>
          <p:cNvSpPr>
            <a:spLocks noGrp="1"/>
          </p:cNvSpPr>
          <p:nvPr>
            <p:ph type="dt" sz="half" idx="10"/>
          </p:nvPr>
        </p:nvSpPr>
        <p:spPr/>
        <p:txBody>
          <a:bodyPr/>
          <a:lstStyle/>
          <a:p>
            <a:fld id="{ECE7CB18-7C81-41FC-970D-544B991C7FE6}" type="datetimeFigureOut">
              <a:rPr lang="en-IN" smtClean="0"/>
              <a:t>20-01-2025</a:t>
            </a:fld>
            <a:endParaRPr lang="en-IN"/>
          </a:p>
        </p:txBody>
      </p:sp>
      <p:sp>
        <p:nvSpPr>
          <p:cNvPr id="5" name="Footer Placeholder 4">
            <a:extLst>
              <a:ext uri="{FF2B5EF4-FFF2-40B4-BE49-F238E27FC236}">
                <a16:creationId xmlns:a16="http://schemas.microsoft.com/office/drawing/2014/main" id="{9B6CB6F7-3154-4757-B258-E208EF6D20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AA71A6-D32B-4F8B-8393-F7710E65B5EC}"/>
              </a:ext>
            </a:extLst>
          </p:cNvPr>
          <p:cNvSpPr>
            <a:spLocks noGrp="1"/>
          </p:cNvSpPr>
          <p:nvPr>
            <p:ph type="sldNum" sz="quarter" idx="12"/>
          </p:nvPr>
        </p:nvSpPr>
        <p:spPr/>
        <p:txBody>
          <a:bodyPr/>
          <a:lstStyle/>
          <a:p>
            <a:fld id="{765786A9-E78B-470C-AB84-BD0FBF7E0AD4}" type="slidenum">
              <a:rPr lang="en-IN" smtClean="0"/>
              <a:t>‹#›</a:t>
            </a:fld>
            <a:endParaRPr lang="en-IN"/>
          </a:p>
        </p:txBody>
      </p:sp>
    </p:spTree>
    <p:extLst>
      <p:ext uri="{BB962C8B-B14F-4D97-AF65-F5344CB8AC3E}">
        <p14:creationId xmlns:p14="http://schemas.microsoft.com/office/powerpoint/2010/main" val="834460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03C9EE-ACA6-4986-B006-3A2B831A6F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FB5629-D7F6-42D0-A3B2-42469A12D5F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BCC553-2340-4D86-88D2-6003E6985A90}"/>
              </a:ext>
            </a:extLst>
          </p:cNvPr>
          <p:cNvSpPr>
            <a:spLocks noGrp="1"/>
          </p:cNvSpPr>
          <p:nvPr>
            <p:ph type="dt" sz="half" idx="10"/>
          </p:nvPr>
        </p:nvSpPr>
        <p:spPr/>
        <p:txBody>
          <a:bodyPr/>
          <a:lstStyle/>
          <a:p>
            <a:fld id="{ECE7CB18-7C81-41FC-970D-544B991C7FE6}" type="datetimeFigureOut">
              <a:rPr lang="en-IN" smtClean="0"/>
              <a:t>20-01-2025</a:t>
            </a:fld>
            <a:endParaRPr lang="en-IN"/>
          </a:p>
        </p:txBody>
      </p:sp>
      <p:sp>
        <p:nvSpPr>
          <p:cNvPr id="5" name="Footer Placeholder 4">
            <a:extLst>
              <a:ext uri="{FF2B5EF4-FFF2-40B4-BE49-F238E27FC236}">
                <a16:creationId xmlns:a16="http://schemas.microsoft.com/office/drawing/2014/main" id="{85ECA5BD-5E8F-41D0-986C-8CA05BAF87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5BB6D4-9B07-49B2-9905-CDE45D144AEA}"/>
              </a:ext>
            </a:extLst>
          </p:cNvPr>
          <p:cNvSpPr>
            <a:spLocks noGrp="1"/>
          </p:cNvSpPr>
          <p:nvPr>
            <p:ph type="sldNum" sz="quarter" idx="12"/>
          </p:nvPr>
        </p:nvSpPr>
        <p:spPr/>
        <p:txBody>
          <a:bodyPr/>
          <a:lstStyle/>
          <a:p>
            <a:fld id="{765786A9-E78B-470C-AB84-BD0FBF7E0AD4}" type="slidenum">
              <a:rPr lang="en-IN" smtClean="0"/>
              <a:t>‹#›</a:t>
            </a:fld>
            <a:endParaRPr lang="en-IN"/>
          </a:p>
        </p:txBody>
      </p:sp>
    </p:spTree>
    <p:extLst>
      <p:ext uri="{BB962C8B-B14F-4D97-AF65-F5344CB8AC3E}">
        <p14:creationId xmlns:p14="http://schemas.microsoft.com/office/powerpoint/2010/main" val="2277578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51024F-B5BE-4A4D-BCFD-09ED2CCA37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FB336D-050B-4B2F-B3EF-383B6C1D98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5A06CD-AB59-4157-9962-F75AD3E841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7CB18-7C81-41FC-970D-544B991C7FE6}" type="datetimeFigureOut">
              <a:rPr lang="en-IN" smtClean="0"/>
              <a:t>20-01-2025</a:t>
            </a:fld>
            <a:endParaRPr lang="en-IN"/>
          </a:p>
        </p:txBody>
      </p:sp>
      <p:sp>
        <p:nvSpPr>
          <p:cNvPr id="5" name="Footer Placeholder 4">
            <a:extLst>
              <a:ext uri="{FF2B5EF4-FFF2-40B4-BE49-F238E27FC236}">
                <a16:creationId xmlns:a16="http://schemas.microsoft.com/office/drawing/2014/main" id="{CB063DB3-9896-4923-9F0E-CC240C4077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343B125-F934-4363-87D6-C55E2D280F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5786A9-E78B-470C-AB84-BD0FBF7E0AD4}" type="slidenum">
              <a:rPr lang="en-IN" smtClean="0"/>
              <a:t>‹#›</a:t>
            </a:fld>
            <a:endParaRPr lang="en-IN"/>
          </a:p>
        </p:txBody>
      </p:sp>
    </p:spTree>
    <p:extLst>
      <p:ext uri="{BB962C8B-B14F-4D97-AF65-F5344CB8AC3E}">
        <p14:creationId xmlns:p14="http://schemas.microsoft.com/office/powerpoint/2010/main" val="3159032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890D6-FF86-4C19-ACFE-9C11E890071D}"/>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2990C92-E5EB-4516-BA2F-31BE83A0AC4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71871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CC256-6601-4FB8-8AB9-FE05124249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56ED7B-AD3F-475E-A072-F57C0409EB28}"/>
              </a:ext>
            </a:extLst>
          </p:cNvPr>
          <p:cNvSpPr>
            <a:spLocks noGrp="1"/>
          </p:cNvSpPr>
          <p:nvPr>
            <p:ph idx="1"/>
          </p:nvPr>
        </p:nvSpPr>
        <p:spPr/>
        <p:txBody>
          <a:bodyPr/>
          <a:lstStyle/>
          <a:p>
            <a:pPr algn="just"/>
            <a:r>
              <a:rPr lang="en-US" dirty="0"/>
              <a:t>Final Variables</a:t>
            </a:r>
          </a:p>
          <a:p>
            <a:pPr algn="just"/>
            <a:r>
              <a:rPr lang="en-US" dirty="0"/>
              <a:t>If you don't want others (or yourself) to overwrite existing values, use the final keyword (this will declare the variable as "final" or "constant", which means unchangeable and read-only)</a:t>
            </a:r>
          </a:p>
          <a:p>
            <a:pPr algn="just"/>
            <a:r>
              <a:rPr lang="en-US" dirty="0"/>
              <a:t>final int </a:t>
            </a:r>
            <a:r>
              <a:rPr lang="en-US" dirty="0" err="1"/>
              <a:t>myNum</a:t>
            </a:r>
            <a:r>
              <a:rPr lang="en-US" dirty="0"/>
              <a:t> = 15;</a:t>
            </a:r>
          </a:p>
          <a:p>
            <a:pPr algn="just"/>
            <a:r>
              <a:rPr lang="en-US" dirty="0" err="1"/>
              <a:t>myNum</a:t>
            </a:r>
            <a:r>
              <a:rPr lang="en-US" dirty="0"/>
              <a:t> = 20;  // will generate an error: cannot assign a value to a final variable</a:t>
            </a:r>
          </a:p>
          <a:p>
            <a:pPr algn="just"/>
            <a:endParaRPr lang="en-US" dirty="0"/>
          </a:p>
          <a:p>
            <a:pPr algn="just"/>
            <a:endParaRPr lang="en-IN" dirty="0"/>
          </a:p>
        </p:txBody>
      </p:sp>
    </p:spTree>
    <p:extLst>
      <p:ext uri="{BB962C8B-B14F-4D97-AF65-F5344CB8AC3E}">
        <p14:creationId xmlns:p14="http://schemas.microsoft.com/office/powerpoint/2010/main" val="1912264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E9B3-9E87-454E-AF46-9AE351E687E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E53A5E4-4535-4C7B-AF15-7E55F5C2AA37}"/>
              </a:ext>
            </a:extLst>
          </p:cNvPr>
          <p:cNvSpPr>
            <a:spLocks noGrp="1"/>
          </p:cNvSpPr>
          <p:nvPr>
            <p:ph idx="1"/>
          </p:nvPr>
        </p:nvSpPr>
        <p:spPr/>
        <p:txBody>
          <a:bodyPr>
            <a:normAutofit lnSpcReduction="10000"/>
          </a:bodyPr>
          <a:lstStyle/>
          <a:p>
            <a:pPr marL="0" indent="0">
              <a:buNone/>
            </a:pPr>
            <a:r>
              <a:rPr lang="en-US" dirty="0"/>
              <a:t>class </a:t>
            </a:r>
            <a:r>
              <a:rPr lang="en-US" dirty="0" err="1"/>
              <a:t>Final_Var</a:t>
            </a:r>
            <a:endParaRPr lang="en-US" dirty="0"/>
          </a:p>
          <a:p>
            <a:pPr marL="0" indent="0">
              <a:buNone/>
            </a:pPr>
            <a:r>
              <a:rPr lang="en-US" dirty="0"/>
              <a:t>{</a:t>
            </a:r>
          </a:p>
          <a:p>
            <a:pPr marL="0" indent="0">
              <a:buNone/>
            </a:pPr>
            <a:r>
              <a:rPr lang="en-US" dirty="0"/>
              <a:t>	</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final int a= 20;</a:t>
            </a:r>
          </a:p>
          <a:p>
            <a:pPr marL="0" indent="0">
              <a:buNone/>
            </a:pPr>
            <a:r>
              <a:rPr lang="en-US" dirty="0"/>
              <a:t>		a=22;</a:t>
            </a:r>
          </a:p>
          <a:p>
            <a:pPr marL="0" indent="0">
              <a:buNone/>
            </a:pPr>
            <a:r>
              <a:rPr lang="en-US" dirty="0"/>
              <a:t>	}</a:t>
            </a:r>
          </a:p>
          <a:p>
            <a:pPr marL="0" indent="0">
              <a:buNone/>
            </a:pPr>
            <a:r>
              <a:rPr lang="en-US" dirty="0"/>
              <a:t>}</a:t>
            </a:r>
          </a:p>
          <a:p>
            <a:endParaRPr lang="en-US" dirty="0"/>
          </a:p>
          <a:p>
            <a:endParaRPr lang="en-IN" dirty="0"/>
          </a:p>
        </p:txBody>
      </p:sp>
    </p:spTree>
    <p:extLst>
      <p:ext uri="{BB962C8B-B14F-4D97-AF65-F5344CB8AC3E}">
        <p14:creationId xmlns:p14="http://schemas.microsoft.com/office/powerpoint/2010/main" val="2560597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83A25-7D2B-444D-8DED-40842AF4F1DE}"/>
              </a:ext>
            </a:extLst>
          </p:cNvPr>
          <p:cNvSpPr>
            <a:spLocks noGrp="1"/>
          </p:cNvSpPr>
          <p:nvPr>
            <p:ph type="title"/>
          </p:nvPr>
        </p:nvSpPr>
        <p:spPr/>
        <p:txBody>
          <a:bodyPr/>
          <a:lstStyle/>
          <a:p>
            <a:r>
              <a:rPr lang="en-US" dirty="0"/>
              <a:t>How to display variables?</a:t>
            </a:r>
            <a:endParaRPr lang="en-IN" dirty="0"/>
          </a:p>
        </p:txBody>
      </p:sp>
      <p:sp>
        <p:nvSpPr>
          <p:cNvPr id="3" name="Content Placeholder 2">
            <a:extLst>
              <a:ext uri="{FF2B5EF4-FFF2-40B4-BE49-F238E27FC236}">
                <a16:creationId xmlns:a16="http://schemas.microsoft.com/office/drawing/2014/main" id="{9D532411-B43D-468E-93B2-82D62E7E29D8}"/>
              </a:ext>
            </a:extLst>
          </p:cNvPr>
          <p:cNvSpPr>
            <a:spLocks noGrp="1"/>
          </p:cNvSpPr>
          <p:nvPr>
            <p:ph idx="1"/>
          </p:nvPr>
        </p:nvSpPr>
        <p:spPr/>
        <p:txBody>
          <a:bodyPr numCol="2">
            <a:normAutofit fontScale="77500" lnSpcReduction="20000"/>
          </a:bodyPr>
          <a:lstStyle/>
          <a:p>
            <a:pPr marL="0" indent="0">
              <a:buNone/>
            </a:pPr>
            <a:r>
              <a:rPr lang="en-IN" dirty="0"/>
              <a:t>class </a:t>
            </a:r>
            <a:r>
              <a:rPr lang="en-IN" dirty="0" err="1"/>
              <a:t>Display_var</a:t>
            </a:r>
            <a:endParaRPr lang="en-IN" dirty="0"/>
          </a:p>
          <a:p>
            <a:pPr marL="0" indent="0">
              <a:buNone/>
            </a:pPr>
            <a:r>
              <a:rPr lang="en-IN" dirty="0"/>
              <a:t>{	</a:t>
            </a:r>
          </a:p>
          <a:p>
            <a:pPr marL="0" indent="0">
              <a:buNone/>
            </a:pPr>
            <a:r>
              <a:rPr lang="en-IN" dirty="0"/>
              <a:t>	public static void main(String </a:t>
            </a:r>
            <a:r>
              <a:rPr lang="en-IN" dirty="0" err="1"/>
              <a:t>args</a:t>
            </a:r>
            <a:r>
              <a:rPr lang="en-IN" dirty="0"/>
              <a:t>[])</a:t>
            </a:r>
          </a:p>
          <a:p>
            <a:pPr marL="0" indent="0">
              <a:buNone/>
            </a:pPr>
            <a:r>
              <a:rPr lang="en-IN" dirty="0"/>
              <a:t>	{</a:t>
            </a:r>
          </a:p>
          <a:p>
            <a:pPr marL="0" indent="0">
              <a:buNone/>
            </a:pPr>
            <a:r>
              <a:rPr lang="en-IN" dirty="0"/>
              <a:t>		String </a:t>
            </a:r>
            <a:r>
              <a:rPr lang="en-IN" dirty="0" err="1"/>
              <a:t>fName</a:t>
            </a:r>
            <a:r>
              <a:rPr lang="en-IN" dirty="0"/>
              <a:t> = "SIT ";</a:t>
            </a:r>
          </a:p>
          <a:p>
            <a:pPr marL="0" indent="0">
              <a:buNone/>
            </a:pPr>
            <a:r>
              <a:rPr lang="en-IN" dirty="0"/>
              <a:t>		String </a:t>
            </a:r>
            <a:r>
              <a:rPr lang="en-IN" dirty="0" err="1"/>
              <a:t>lName</a:t>
            </a:r>
            <a:r>
              <a:rPr lang="en-IN" dirty="0"/>
              <a:t> = "College";</a:t>
            </a:r>
          </a:p>
          <a:p>
            <a:pPr marL="0" indent="0">
              <a:buNone/>
            </a:pPr>
            <a:r>
              <a:rPr lang="en-IN" dirty="0"/>
              <a:t>//Concatenates two variables</a:t>
            </a:r>
          </a:p>
          <a:p>
            <a:pPr marL="0" indent="0">
              <a:buNone/>
            </a:pPr>
            <a:r>
              <a:rPr lang="en-IN" dirty="0"/>
              <a:t>		String </a:t>
            </a:r>
            <a:r>
              <a:rPr lang="en-IN" dirty="0" err="1"/>
              <a:t>fullName</a:t>
            </a:r>
            <a:r>
              <a:rPr lang="en-IN" dirty="0"/>
              <a:t> = </a:t>
            </a:r>
            <a:r>
              <a:rPr lang="en-IN" dirty="0" err="1"/>
              <a:t>fName</a:t>
            </a:r>
            <a:r>
              <a:rPr lang="en-IN" dirty="0"/>
              <a:t>+ </a:t>
            </a:r>
            <a:r>
              <a:rPr lang="en-IN" dirty="0" err="1"/>
              <a:t>lName</a:t>
            </a:r>
            <a:r>
              <a:rPr lang="en-IN" dirty="0"/>
              <a:t>; 											</a:t>
            </a:r>
            <a:r>
              <a:rPr lang="en-IN" dirty="0" err="1"/>
              <a:t>System.out.println</a:t>
            </a:r>
            <a:r>
              <a:rPr lang="en-IN" dirty="0"/>
              <a:t>(</a:t>
            </a:r>
            <a:r>
              <a:rPr lang="en-IN" dirty="0" err="1"/>
              <a:t>fullName</a:t>
            </a:r>
            <a:r>
              <a:rPr lang="en-IN" dirty="0"/>
              <a:t>);</a:t>
            </a:r>
          </a:p>
          <a:p>
            <a:endParaRPr lang="en-IN" dirty="0"/>
          </a:p>
          <a:p>
            <a:pPr marL="0" indent="0">
              <a:buNone/>
            </a:pPr>
            <a:r>
              <a:rPr lang="en-IN" dirty="0"/>
              <a:t>		int x = 5;</a:t>
            </a:r>
          </a:p>
          <a:p>
            <a:pPr marL="0" indent="0">
              <a:buNone/>
            </a:pPr>
            <a:r>
              <a:rPr lang="en-IN" dirty="0"/>
              <a:t>		int y = 6;</a:t>
            </a:r>
          </a:p>
          <a:p>
            <a:pPr marL="0" indent="0">
              <a:buNone/>
            </a:pPr>
            <a:r>
              <a:rPr lang="en-IN" dirty="0"/>
              <a:t>		// Print the value of x + y</a:t>
            </a:r>
          </a:p>
          <a:p>
            <a:pPr marL="0" indent="0">
              <a:buNone/>
            </a:pPr>
            <a:r>
              <a:rPr lang="en-IN" dirty="0"/>
              <a:t>		</a:t>
            </a:r>
            <a:r>
              <a:rPr lang="en-IN" dirty="0" err="1"/>
              <a:t>System.out.println</a:t>
            </a:r>
            <a:r>
              <a:rPr lang="en-IN" dirty="0"/>
              <a:t>(x + y);</a:t>
            </a:r>
          </a:p>
          <a:p>
            <a:pPr marL="0" indent="0">
              <a:buNone/>
            </a:pPr>
            <a:r>
              <a:rPr lang="en-IN" dirty="0"/>
              <a:t>                            </a:t>
            </a:r>
          </a:p>
          <a:p>
            <a:pPr marL="0" indent="0">
              <a:buNone/>
            </a:pPr>
            <a:r>
              <a:rPr lang="en-IN" dirty="0"/>
              <a:t>		//Declare Many Variables</a:t>
            </a:r>
          </a:p>
          <a:p>
            <a:pPr marL="0" indent="0">
              <a:buNone/>
            </a:pPr>
            <a:r>
              <a:rPr lang="en-IN" dirty="0"/>
              <a:t>		int a=66,b=45,c=6;</a:t>
            </a:r>
          </a:p>
          <a:p>
            <a:pPr marL="0" indent="0">
              <a:buNone/>
            </a:pPr>
            <a:r>
              <a:rPr lang="en-IN" dirty="0"/>
              <a:t>		</a:t>
            </a:r>
            <a:r>
              <a:rPr lang="en-IN" dirty="0" err="1"/>
              <a:t>System.out.println</a:t>
            </a:r>
            <a:r>
              <a:rPr lang="en-IN" dirty="0"/>
              <a:t>(</a:t>
            </a:r>
            <a:r>
              <a:rPr lang="en-IN" dirty="0" err="1"/>
              <a:t>a+b+c</a:t>
            </a:r>
            <a:r>
              <a:rPr lang="en-IN" dirty="0"/>
              <a:t>);</a:t>
            </a:r>
          </a:p>
          <a:p>
            <a:pPr marL="0" indent="0">
              <a:buNone/>
            </a:pPr>
            <a:r>
              <a:rPr lang="en-IN" dirty="0"/>
              <a:t>		</a:t>
            </a:r>
          </a:p>
          <a:p>
            <a:endParaRPr lang="en-IN" dirty="0"/>
          </a:p>
          <a:p>
            <a:pPr marL="0" indent="0">
              <a:buNone/>
            </a:pPr>
            <a:r>
              <a:rPr lang="en-IN" dirty="0"/>
              <a:t>	}//end of main</a:t>
            </a:r>
          </a:p>
          <a:p>
            <a:pPr marL="0" indent="0">
              <a:buNone/>
            </a:pPr>
            <a:r>
              <a:rPr lang="en-IN" dirty="0"/>
              <a:t>}//end pf class</a:t>
            </a:r>
          </a:p>
        </p:txBody>
      </p:sp>
    </p:spTree>
    <p:extLst>
      <p:ext uri="{BB962C8B-B14F-4D97-AF65-F5344CB8AC3E}">
        <p14:creationId xmlns:p14="http://schemas.microsoft.com/office/powerpoint/2010/main" val="3885984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10FD4-EA5F-452E-BFBD-BB952D14728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3B12F1-6683-4267-BC81-DC617AD23A89}"/>
              </a:ext>
            </a:extLst>
          </p:cNvPr>
          <p:cNvSpPr>
            <a:spLocks noGrp="1"/>
          </p:cNvSpPr>
          <p:nvPr>
            <p:ph idx="1"/>
          </p:nvPr>
        </p:nvSpPr>
        <p:spPr/>
        <p:txBody>
          <a:bodyPr>
            <a:normAutofit fontScale="77500" lnSpcReduction="20000"/>
          </a:bodyPr>
          <a:lstStyle/>
          <a:p>
            <a:r>
              <a:rPr lang="en-IN" dirty="0"/>
              <a:t>Java Identifiers</a:t>
            </a:r>
          </a:p>
          <a:p>
            <a:r>
              <a:rPr lang="en-US" dirty="0"/>
              <a:t>All Java </a:t>
            </a:r>
            <a:r>
              <a:rPr lang="en-US" b="1" dirty="0"/>
              <a:t>variables</a:t>
            </a:r>
            <a:r>
              <a:rPr lang="en-US" dirty="0"/>
              <a:t> must be </a:t>
            </a:r>
            <a:r>
              <a:rPr lang="en-US" b="1" dirty="0"/>
              <a:t>identified</a:t>
            </a:r>
            <a:r>
              <a:rPr lang="en-US" dirty="0"/>
              <a:t> with </a:t>
            </a:r>
            <a:r>
              <a:rPr lang="en-US" b="1" dirty="0"/>
              <a:t>unique names</a:t>
            </a:r>
            <a:r>
              <a:rPr lang="en-US" dirty="0"/>
              <a:t>.</a:t>
            </a:r>
          </a:p>
          <a:p>
            <a:r>
              <a:rPr lang="en-US" dirty="0"/>
              <a:t>These unique names are called </a:t>
            </a:r>
            <a:r>
              <a:rPr lang="en-US" b="1" dirty="0"/>
              <a:t>identifiers</a:t>
            </a:r>
            <a:r>
              <a:rPr lang="en-US" dirty="0"/>
              <a:t>.</a:t>
            </a:r>
          </a:p>
          <a:p>
            <a:r>
              <a:rPr lang="en-US" dirty="0"/>
              <a:t>The general rules for naming variables are:</a:t>
            </a:r>
          </a:p>
          <a:p>
            <a:endParaRPr lang="en-US" dirty="0"/>
          </a:p>
          <a:p>
            <a:r>
              <a:rPr lang="en-US" dirty="0"/>
              <a:t>Names can contain letters, digits, underscores, and dollar signs</a:t>
            </a:r>
          </a:p>
          <a:p>
            <a:r>
              <a:rPr lang="en-US" dirty="0"/>
              <a:t>Names must begin with a letter</a:t>
            </a:r>
          </a:p>
          <a:p>
            <a:r>
              <a:rPr lang="en-US" dirty="0"/>
              <a:t>Names should start with a lowercase letter, and cannot contain whitespace</a:t>
            </a:r>
          </a:p>
          <a:p>
            <a:r>
              <a:rPr lang="en-US" dirty="0"/>
              <a:t>Names can also begin with $ and _</a:t>
            </a:r>
          </a:p>
          <a:p>
            <a:r>
              <a:rPr lang="en-US" dirty="0"/>
              <a:t>Names are case-sensitive ("</a:t>
            </a:r>
            <a:r>
              <a:rPr lang="en-US" b="1" dirty="0" err="1"/>
              <a:t>myVar</a:t>
            </a:r>
            <a:r>
              <a:rPr lang="en-US" dirty="0"/>
              <a:t>" and "</a:t>
            </a:r>
            <a:r>
              <a:rPr lang="en-US" b="1" dirty="0" err="1"/>
              <a:t>myvar</a:t>
            </a:r>
            <a:r>
              <a:rPr lang="en-US" dirty="0"/>
              <a:t>" are different variables)</a:t>
            </a:r>
          </a:p>
          <a:p>
            <a:r>
              <a:rPr lang="en-US" dirty="0"/>
              <a:t>Reserved words (like Java keywords, such as int or </a:t>
            </a:r>
            <a:r>
              <a:rPr lang="en-US" dirty="0" err="1"/>
              <a:t>boolean</a:t>
            </a:r>
            <a:r>
              <a:rPr lang="en-US" dirty="0"/>
              <a:t>) cannot be used as names</a:t>
            </a:r>
            <a:endParaRPr lang="en-IN" dirty="0"/>
          </a:p>
        </p:txBody>
      </p:sp>
    </p:spTree>
    <p:extLst>
      <p:ext uri="{BB962C8B-B14F-4D97-AF65-F5344CB8AC3E}">
        <p14:creationId xmlns:p14="http://schemas.microsoft.com/office/powerpoint/2010/main" val="2381161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6A4B92-8165-4DE9-92D6-3198E1C80D58}"/>
              </a:ext>
            </a:extLst>
          </p:cNvPr>
          <p:cNvSpPr>
            <a:spLocks noGrp="1"/>
          </p:cNvSpPr>
          <p:nvPr>
            <p:ph idx="1"/>
          </p:nvPr>
        </p:nvSpPr>
        <p:spPr>
          <a:xfrm>
            <a:off x="838200" y="304800"/>
            <a:ext cx="10515600" cy="5872163"/>
          </a:xfrm>
        </p:spPr>
        <p:txBody>
          <a:bodyPr>
            <a:normAutofit fontScale="92500" lnSpcReduction="10000"/>
          </a:bodyPr>
          <a:lstStyle/>
          <a:p>
            <a:pPr marL="0" indent="0">
              <a:buNone/>
            </a:pPr>
            <a:r>
              <a:rPr lang="en-IN" dirty="0"/>
              <a:t>// Student data</a:t>
            </a:r>
          </a:p>
          <a:p>
            <a:pPr marL="0" indent="0">
              <a:buNone/>
            </a:pPr>
            <a:r>
              <a:rPr lang="en-IN" dirty="0"/>
              <a:t>String </a:t>
            </a:r>
            <a:r>
              <a:rPr lang="en-IN" dirty="0" err="1"/>
              <a:t>studentName</a:t>
            </a:r>
            <a:r>
              <a:rPr lang="en-IN" dirty="0"/>
              <a:t> = “Rakesh Deo";</a:t>
            </a:r>
          </a:p>
          <a:p>
            <a:pPr marL="0" indent="0">
              <a:buNone/>
            </a:pPr>
            <a:r>
              <a:rPr lang="en-IN" dirty="0"/>
              <a:t>int </a:t>
            </a:r>
            <a:r>
              <a:rPr lang="en-IN" dirty="0" err="1"/>
              <a:t>studentID</a:t>
            </a:r>
            <a:r>
              <a:rPr lang="en-IN" dirty="0"/>
              <a:t> = 15;</a:t>
            </a:r>
          </a:p>
          <a:p>
            <a:pPr marL="0" indent="0">
              <a:buNone/>
            </a:pPr>
            <a:r>
              <a:rPr lang="en-IN" dirty="0"/>
              <a:t>int </a:t>
            </a:r>
            <a:r>
              <a:rPr lang="en-IN" dirty="0" err="1"/>
              <a:t>studentAge</a:t>
            </a:r>
            <a:r>
              <a:rPr lang="en-IN" dirty="0"/>
              <a:t> = 23;</a:t>
            </a:r>
          </a:p>
          <a:p>
            <a:pPr marL="0" indent="0">
              <a:buNone/>
            </a:pPr>
            <a:r>
              <a:rPr lang="en-IN" dirty="0"/>
              <a:t>float </a:t>
            </a:r>
            <a:r>
              <a:rPr lang="en-IN" dirty="0" err="1"/>
              <a:t>studentFee</a:t>
            </a:r>
            <a:r>
              <a:rPr lang="en-IN" dirty="0"/>
              <a:t> = 75.25f;</a:t>
            </a:r>
          </a:p>
          <a:p>
            <a:pPr marL="0" indent="0">
              <a:buNone/>
            </a:pPr>
            <a:r>
              <a:rPr lang="en-IN" dirty="0"/>
              <a:t>char </a:t>
            </a:r>
            <a:r>
              <a:rPr lang="en-IN" dirty="0" err="1"/>
              <a:t>studentGrade</a:t>
            </a:r>
            <a:r>
              <a:rPr lang="en-IN" dirty="0"/>
              <a:t> = 'B';</a:t>
            </a:r>
          </a:p>
          <a:p>
            <a:endParaRPr lang="en-IN" dirty="0"/>
          </a:p>
          <a:p>
            <a:pPr marL="0" indent="0">
              <a:buNone/>
            </a:pPr>
            <a:r>
              <a:rPr lang="en-IN" dirty="0"/>
              <a:t>// Print variables</a:t>
            </a:r>
          </a:p>
          <a:p>
            <a:pPr marL="0" indent="0">
              <a:buNone/>
            </a:pPr>
            <a:r>
              <a:rPr lang="en-IN" dirty="0" err="1"/>
              <a:t>System.out.println</a:t>
            </a:r>
            <a:r>
              <a:rPr lang="en-IN" dirty="0"/>
              <a:t>("Student name: " + </a:t>
            </a:r>
            <a:r>
              <a:rPr lang="en-IN" dirty="0" err="1"/>
              <a:t>studentName</a:t>
            </a:r>
            <a:r>
              <a:rPr lang="en-IN" dirty="0"/>
              <a:t>);</a:t>
            </a:r>
          </a:p>
          <a:p>
            <a:pPr marL="0" indent="0">
              <a:buNone/>
            </a:pPr>
            <a:r>
              <a:rPr lang="en-IN" dirty="0" err="1"/>
              <a:t>System.out.println</a:t>
            </a:r>
            <a:r>
              <a:rPr lang="en-IN" dirty="0"/>
              <a:t>("Student id: " + </a:t>
            </a:r>
            <a:r>
              <a:rPr lang="en-IN" dirty="0" err="1"/>
              <a:t>studentID</a:t>
            </a:r>
            <a:r>
              <a:rPr lang="en-IN" dirty="0"/>
              <a:t>);</a:t>
            </a:r>
          </a:p>
          <a:p>
            <a:pPr marL="0" indent="0">
              <a:buNone/>
            </a:pPr>
            <a:r>
              <a:rPr lang="en-IN" dirty="0" err="1"/>
              <a:t>System.out.println</a:t>
            </a:r>
            <a:r>
              <a:rPr lang="en-IN" dirty="0"/>
              <a:t>("Student age: " + </a:t>
            </a:r>
            <a:r>
              <a:rPr lang="en-IN" dirty="0" err="1"/>
              <a:t>studentAge</a:t>
            </a:r>
            <a:r>
              <a:rPr lang="en-IN" dirty="0"/>
              <a:t>);</a:t>
            </a:r>
          </a:p>
          <a:p>
            <a:pPr marL="0" indent="0">
              <a:buNone/>
            </a:pPr>
            <a:r>
              <a:rPr lang="en-IN" dirty="0" err="1"/>
              <a:t>System.out.println</a:t>
            </a:r>
            <a:r>
              <a:rPr lang="en-IN" dirty="0"/>
              <a:t>("Student fee: " + </a:t>
            </a:r>
            <a:r>
              <a:rPr lang="en-IN" dirty="0" err="1"/>
              <a:t>studentFee</a:t>
            </a:r>
            <a:r>
              <a:rPr lang="en-IN" dirty="0"/>
              <a:t>);</a:t>
            </a:r>
          </a:p>
          <a:p>
            <a:pPr marL="0" indent="0">
              <a:buNone/>
            </a:pPr>
            <a:r>
              <a:rPr lang="en-IN" dirty="0" err="1"/>
              <a:t>System.out.println</a:t>
            </a:r>
            <a:r>
              <a:rPr lang="en-IN" dirty="0"/>
              <a:t>("Student grade: " + </a:t>
            </a:r>
            <a:r>
              <a:rPr lang="en-IN" dirty="0" err="1"/>
              <a:t>studentGrade</a:t>
            </a:r>
            <a:r>
              <a:rPr lang="en-IN" dirty="0"/>
              <a:t>);</a:t>
            </a:r>
          </a:p>
        </p:txBody>
      </p:sp>
    </p:spTree>
    <p:extLst>
      <p:ext uri="{BB962C8B-B14F-4D97-AF65-F5344CB8AC3E}">
        <p14:creationId xmlns:p14="http://schemas.microsoft.com/office/powerpoint/2010/main" val="11552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434A5-3FB9-4082-931C-171CAC8A15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AFE5F34-A3B9-447B-B7C9-63B85AF3B05A}"/>
              </a:ext>
            </a:extLst>
          </p:cNvPr>
          <p:cNvSpPr>
            <a:spLocks noGrp="1"/>
          </p:cNvSpPr>
          <p:nvPr>
            <p:ph idx="1"/>
          </p:nvPr>
        </p:nvSpPr>
        <p:spPr/>
        <p:txBody>
          <a:bodyPr>
            <a:normAutofit fontScale="62500" lnSpcReduction="20000"/>
          </a:bodyPr>
          <a:lstStyle/>
          <a:p>
            <a:r>
              <a:rPr lang="en-US" dirty="0"/>
              <a:t>Calculate the Area of a Rectangle</a:t>
            </a:r>
          </a:p>
          <a:p>
            <a:pPr marL="0" indent="0">
              <a:buNone/>
            </a:pPr>
            <a:r>
              <a:rPr lang="en-IN" dirty="0"/>
              <a:t>// Create integer variables</a:t>
            </a:r>
          </a:p>
          <a:p>
            <a:pPr marL="0" indent="0">
              <a:buNone/>
            </a:pPr>
            <a:r>
              <a:rPr lang="en-IN" dirty="0"/>
              <a:t>int length = 4;</a:t>
            </a:r>
          </a:p>
          <a:p>
            <a:pPr marL="0" indent="0">
              <a:buNone/>
            </a:pPr>
            <a:r>
              <a:rPr lang="en-IN" dirty="0"/>
              <a:t>int width = 6;</a:t>
            </a:r>
          </a:p>
          <a:p>
            <a:pPr marL="0" indent="0">
              <a:buNone/>
            </a:pPr>
            <a:r>
              <a:rPr lang="en-IN" dirty="0"/>
              <a:t>int area;</a:t>
            </a:r>
          </a:p>
          <a:p>
            <a:pPr marL="0" indent="0">
              <a:buNone/>
            </a:pPr>
            <a:endParaRPr lang="en-IN" dirty="0"/>
          </a:p>
          <a:p>
            <a:pPr marL="0" indent="0">
              <a:buNone/>
            </a:pPr>
            <a:r>
              <a:rPr lang="en-IN" dirty="0"/>
              <a:t>// Calculate the area of a rectangle</a:t>
            </a:r>
          </a:p>
          <a:p>
            <a:pPr marL="0" indent="0">
              <a:buNone/>
            </a:pPr>
            <a:r>
              <a:rPr lang="en-IN" dirty="0"/>
              <a:t>area = length * width;</a:t>
            </a:r>
          </a:p>
          <a:p>
            <a:pPr marL="0" indent="0">
              <a:buNone/>
            </a:pPr>
            <a:endParaRPr lang="en-IN" dirty="0"/>
          </a:p>
          <a:p>
            <a:pPr marL="0" indent="0">
              <a:buNone/>
            </a:pPr>
            <a:r>
              <a:rPr lang="en-IN" dirty="0"/>
              <a:t>// Print variables</a:t>
            </a:r>
          </a:p>
          <a:p>
            <a:pPr marL="0" indent="0">
              <a:buNone/>
            </a:pPr>
            <a:r>
              <a:rPr lang="en-IN" dirty="0" err="1"/>
              <a:t>System.out.println</a:t>
            </a:r>
            <a:r>
              <a:rPr lang="en-IN" dirty="0"/>
              <a:t>("Length is: " + length);</a:t>
            </a:r>
          </a:p>
          <a:p>
            <a:pPr marL="0" indent="0">
              <a:buNone/>
            </a:pPr>
            <a:r>
              <a:rPr lang="en-IN" dirty="0" err="1"/>
              <a:t>System.out.println</a:t>
            </a:r>
            <a:r>
              <a:rPr lang="en-IN" dirty="0"/>
              <a:t>("Width is: " + width);</a:t>
            </a:r>
          </a:p>
          <a:p>
            <a:pPr marL="0" indent="0">
              <a:buNone/>
            </a:pPr>
            <a:r>
              <a:rPr lang="en-IN" dirty="0" err="1"/>
              <a:t>System.out.println</a:t>
            </a:r>
            <a:r>
              <a:rPr lang="en-IN" dirty="0"/>
              <a:t>("Area of the rectangle is: " + area);</a:t>
            </a:r>
          </a:p>
        </p:txBody>
      </p:sp>
    </p:spTree>
    <p:extLst>
      <p:ext uri="{BB962C8B-B14F-4D97-AF65-F5344CB8AC3E}">
        <p14:creationId xmlns:p14="http://schemas.microsoft.com/office/powerpoint/2010/main" val="3852730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B0041-7982-4C9B-B979-BD84F9BFE3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AE3A9CC-EA73-45CD-8395-A1C8714FCDEB}"/>
              </a:ext>
            </a:extLst>
          </p:cNvPr>
          <p:cNvSpPr>
            <a:spLocks noGrp="1"/>
          </p:cNvSpPr>
          <p:nvPr>
            <p:ph idx="1"/>
          </p:nvPr>
        </p:nvSpPr>
        <p:spPr/>
        <p:txBody>
          <a:bodyPr/>
          <a:lstStyle/>
          <a:p>
            <a:r>
              <a:rPr lang="en-IN" dirty="0"/>
              <a:t>Java Type Casting</a:t>
            </a:r>
          </a:p>
          <a:p>
            <a:r>
              <a:rPr lang="en-US" dirty="0"/>
              <a:t>Type casting is when you assign a value of one primitive data type to another type.</a:t>
            </a:r>
          </a:p>
          <a:p>
            <a:r>
              <a:rPr lang="en-US" b="1" dirty="0"/>
              <a:t>Widening Casting</a:t>
            </a:r>
            <a:r>
              <a:rPr lang="en-US" dirty="0"/>
              <a:t> (automatically) - converting a smaller type to a larger type size.</a:t>
            </a:r>
          </a:p>
          <a:p>
            <a:r>
              <a:rPr lang="en-US" b="1" dirty="0"/>
              <a:t>Narrowing Casting</a:t>
            </a:r>
            <a:r>
              <a:rPr lang="en-US" dirty="0"/>
              <a:t> (manually) - converting a larger type to a smaller size type.</a:t>
            </a:r>
          </a:p>
          <a:p>
            <a:endParaRPr lang="en-IN" dirty="0"/>
          </a:p>
        </p:txBody>
      </p:sp>
    </p:spTree>
    <p:extLst>
      <p:ext uri="{BB962C8B-B14F-4D97-AF65-F5344CB8AC3E}">
        <p14:creationId xmlns:p14="http://schemas.microsoft.com/office/powerpoint/2010/main" val="4177881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9985C-ED63-4592-894E-3A2352112061}"/>
              </a:ext>
            </a:extLst>
          </p:cNvPr>
          <p:cNvSpPr>
            <a:spLocks noGrp="1"/>
          </p:cNvSpPr>
          <p:nvPr>
            <p:ph type="title"/>
          </p:nvPr>
        </p:nvSpPr>
        <p:spPr/>
        <p:txBody>
          <a:bodyPr/>
          <a:lstStyle/>
          <a:p>
            <a:r>
              <a:rPr lang="en-IN" dirty="0"/>
              <a:t>Widening Casting</a:t>
            </a:r>
            <a:br>
              <a:rPr lang="en-IN" dirty="0"/>
            </a:br>
            <a:endParaRPr lang="en-IN" dirty="0"/>
          </a:p>
        </p:txBody>
      </p:sp>
      <p:sp>
        <p:nvSpPr>
          <p:cNvPr id="3" name="Content Placeholder 2">
            <a:extLst>
              <a:ext uri="{FF2B5EF4-FFF2-40B4-BE49-F238E27FC236}">
                <a16:creationId xmlns:a16="http://schemas.microsoft.com/office/drawing/2014/main" id="{9F6BE251-CF39-4F48-9A3C-3FF8A8C206CB}"/>
              </a:ext>
            </a:extLst>
          </p:cNvPr>
          <p:cNvSpPr>
            <a:spLocks noGrp="1"/>
          </p:cNvSpPr>
          <p:nvPr>
            <p:ph idx="1"/>
          </p:nvPr>
        </p:nvSpPr>
        <p:spPr/>
        <p:txBody>
          <a:bodyPr>
            <a:normAutofit lnSpcReduction="10000"/>
          </a:bodyPr>
          <a:lstStyle/>
          <a:p>
            <a:pPr marL="0" indent="0">
              <a:buNone/>
            </a:pPr>
            <a:r>
              <a:rPr lang="en-IN" dirty="0"/>
              <a:t>public class </a:t>
            </a:r>
            <a:r>
              <a:rPr lang="en-IN" dirty="0" err="1"/>
              <a:t>TCast</a:t>
            </a:r>
            <a:r>
              <a:rPr lang="en-IN" dirty="0"/>
              <a:t> {</a:t>
            </a:r>
          </a:p>
          <a:p>
            <a:pPr marL="0" indent="0">
              <a:buNone/>
            </a:pPr>
            <a:r>
              <a:rPr lang="en-IN" dirty="0"/>
              <a:t>  public static void main(String[] </a:t>
            </a:r>
            <a:r>
              <a:rPr lang="en-IN" dirty="0" err="1"/>
              <a:t>args</a:t>
            </a:r>
            <a:r>
              <a:rPr lang="en-IN" dirty="0"/>
              <a:t>) {</a:t>
            </a:r>
          </a:p>
          <a:p>
            <a:pPr marL="0" indent="0">
              <a:buNone/>
            </a:pPr>
            <a:r>
              <a:rPr lang="en-IN" dirty="0"/>
              <a:t>    int </a:t>
            </a:r>
            <a:r>
              <a:rPr lang="en-IN" dirty="0" err="1"/>
              <a:t>myInt</a:t>
            </a:r>
            <a:r>
              <a:rPr lang="en-IN" dirty="0"/>
              <a:t> = 9;</a:t>
            </a:r>
          </a:p>
          <a:p>
            <a:pPr marL="0" indent="0">
              <a:buNone/>
            </a:pPr>
            <a:r>
              <a:rPr lang="en-IN" dirty="0"/>
              <a:t>    double </a:t>
            </a:r>
            <a:r>
              <a:rPr lang="en-IN" dirty="0" err="1"/>
              <a:t>myDouble</a:t>
            </a:r>
            <a:r>
              <a:rPr lang="en-IN" dirty="0"/>
              <a:t> = </a:t>
            </a:r>
            <a:r>
              <a:rPr lang="en-IN" dirty="0" err="1"/>
              <a:t>myInt</a:t>
            </a:r>
            <a:r>
              <a:rPr lang="en-IN" dirty="0"/>
              <a:t>; // Automatic casting: int to double</a:t>
            </a:r>
          </a:p>
          <a:p>
            <a:pPr marL="0" indent="0">
              <a:buNone/>
            </a:pPr>
            <a:endParaRPr lang="en-IN" dirty="0"/>
          </a:p>
          <a:p>
            <a:pPr marL="0" indent="0">
              <a:buNone/>
            </a:pPr>
            <a:r>
              <a:rPr lang="en-IN" dirty="0"/>
              <a:t>    </a:t>
            </a:r>
            <a:r>
              <a:rPr lang="en-IN" dirty="0" err="1"/>
              <a:t>System.out.println</a:t>
            </a:r>
            <a:r>
              <a:rPr lang="en-IN" dirty="0"/>
              <a:t>(</a:t>
            </a:r>
            <a:r>
              <a:rPr lang="en-IN" dirty="0" err="1"/>
              <a:t>myInt</a:t>
            </a:r>
            <a:r>
              <a:rPr lang="en-IN" dirty="0"/>
              <a:t>);      // Outputs 9</a:t>
            </a:r>
          </a:p>
          <a:p>
            <a:pPr marL="0" indent="0">
              <a:buNone/>
            </a:pPr>
            <a:r>
              <a:rPr lang="en-IN" dirty="0"/>
              <a:t>    </a:t>
            </a:r>
            <a:r>
              <a:rPr lang="en-IN" dirty="0" err="1"/>
              <a:t>System.out.println</a:t>
            </a:r>
            <a:r>
              <a:rPr lang="en-IN" dirty="0"/>
              <a:t>(</a:t>
            </a:r>
            <a:r>
              <a:rPr lang="en-IN" dirty="0" err="1"/>
              <a:t>myDouble</a:t>
            </a:r>
            <a:r>
              <a:rPr lang="en-IN" dirty="0"/>
              <a:t>);   // Outputs 9.0</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1033413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5F46C-B841-4FDB-B264-FC147BD9D299}"/>
              </a:ext>
            </a:extLst>
          </p:cNvPr>
          <p:cNvSpPr>
            <a:spLocks noGrp="1"/>
          </p:cNvSpPr>
          <p:nvPr>
            <p:ph type="title"/>
          </p:nvPr>
        </p:nvSpPr>
        <p:spPr/>
        <p:txBody>
          <a:bodyPr/>
          <a:lstStyle/>
          <a:p>
            <a:r>
              <a:rPr lang="en-IN" dirty="0"/>
              <a:t>Narrowing Casting</a:t>
            </a:r>
            <a:br>
              <a:rPr lang="en-IN" dirty="0"/>
            </a:br>
            <a:endParaRPr lang="en-IN" dirty="0"/>
          </a:p>
        </p:txBody>
      </p:sp>
      <p:sp>
        <p:nvSpPr>
          <p:cNvPr id="3" name="Content Placeholder 2">
            <a:extLst>
              <a:ext uri="{FF2B5EF4-FFF2-40B4-BE49-F238E27FC236}">
                <a16:creationId xmlns:a16="http://schemas.microsoft.com/office/drawing/2014/main" id="{EB80EBA5-0181-4BA8-8794-EBE033177B55}"/>
              </a:ext>
            </a:extLst>
          </p:cNvPr>
          <p:cNvSpPr>
            <a:spLocks noGrp="1"/>
          </p:cNvSpPr>
          <p:nvPr>
            <p:ph idx="1"/>
          </p:nvPr>
        </p:nvSpPr>
        <p:spPr/>
        <p:txBody>
          <a:bodyPr/>
          <a:lstStyle/>
          <a:p>
            <a:pPr marL="0" indent="0">
              <a:buNone/>
            </a:pPr>
            <a:r>
              <a:rPr lang="en-IN" dirty="0"/>
              <a:t>public class </a:t>
            </a:r>
            <a:r>
              <a:rPr lang="en-IN" dirty="0" err="1"/>
              <a:t>Ncast</a:t>
            </a:r>
            <a:r>
              <a:rPr lang="en-IN" dirty="0"/>
              <a:t> {</a:t>
            </a:r>
          </a:p>
          <a:p>
            <a:pPr marL="0" indent="0">
              <a:buNone/>
            </a:pPr>
            <a:r>
              <a:rPr lang="en-IN" dirty="0"/>
              <a:t>  public static void main(String[] </a:t>
            </a:r>
            <a:r>
              <a:rPr lang="en-IN" dirty="0" err="1"/>
              <a:t>args</a:t>
            </a:r>
            <a:r>
              <a:rPr lang="en-IN" dirty="0"/>
              <a:t>) {</a:t>
            </a:r>
          </a:p>
          <a:p>
            <a:pPr marL="0" indent="0">
              <a:buNone/>
            </a:pPr>
            <a:r>
              <a:rPr lang="en-IN" dirty="0"/>
              <a:t>    double </a:t>
            </a:r>
            <a:r>
              <a:rPr lang="en-IN" dirty="0" err="1"/>
              <a:t>myDouble</a:t>
            </a:r>
            <a:r>
              <a:rPr lang="en-IN" dirty="0"/>
              <a:t> = 9.78d;</a:t>
            </a:r>
          </a:p>
          <a:p>
            <a:pPr marL="0" indent="0">
              <a:buNone/>
            </a:pPr>
            <a:r>
              <a:rPr lang="en-IN" dirty="0"/>
              <a:t>    int </a:t>
            </a:r>
            <a:r>
              <a:rPr lang="en-IN" dirty="0" err="1"/>
              <a:t>myInt</a:t>
            </a:r>
            <a:r>
              <a:rPr lang="en-IN" dirty="0"/>
              <a:t> = (int) </a:t>
            </a:r>
            <a:r>
              <a:rPr lang="en-IN" dirty="0" err="1"/>
              <a:t>myDouble</a:t>
            </a:r>
            <a:r>
              <a:rPr lang="en-IN" dirty="0"/>
              <a:t>; // Manual casting: double to int</a:t>
            </a:r>
          </a:p>
          <a:p>
            <a:pPr marL="0" indent="0">
              <a:buNone/>
            </a:pPr>
            <a:endParaRPr lang="en-IN" dirty="0"/>
          </a:p>
          <a:p>
            <a:pPr marL="0" indent="0">
              <a:buNone/>
            </a:pPr>
            <a:r>
              <a:rPr lang="en-IN" dirty="0"/>
              <a:t>    </a:t>
            </a:r>
            <a:r>
              <a:rPr lang="en-IN" dirty="0" err="1"/>
              <a:t>System.out.println</a:t>
            </a:r>
            <a:r>
              <a:rPr lang="en-IN" dirty="0"/>
              <a:t>(</a:t>
            </a:r>
            <a:r>
              <a:rPr lang="en-IN" dirty="0" err="1"/>
              <a:t>myDouble</a:t>
            </a:r>
            <a:r>
              <a:rPr lang="en-IN" dirty="0"/>
              <a:t>);   // Outputs 9.78</a:t>
            </a:r>
          </a:p>
          <a:p>
            <a:pPr marL="0" indent="0">
              <a:buNone/>
            </a:pPr>
            <a:r>
              <a:rPr lang="en-IN" dirty="0"/>
              <a:t>    </a:t>
            </a:r>
            <a:r>
              <a:rPr lang="en-IN" dirty="0" err="1"/>
              <a:t>System.out.println</a:t>
            </a:r>
            <a:r>
              <a:rPr lang="en-IN" dirty="0"/>
              <a:t>(</a:t>
            </a:r>
            <a:r>
              <a:rPr lang="en-IN" dirty="0" err="1"/>
              <a:t>myInt</a:t>
            </a:r>
            <a:r>
              <a:rPr lang="en-IN" dirty="0"/>
              <a:t>);      // Outputs 9</a:t>
            </a:r>
          </a:p>
          <a:p>
            <a:pPr marL="0" indent="0">
              <a:buNone/>
            </a:pPr>
            <a:r>
              <a:rPr lang="en-IN" dirty="0"/>
              <a:t>  }</a:t>
            </a:r>
          </a:p>
          <a:p>
            <a:endParaRPr lang="en-IN" dirty="0"/>
          </a:p>
        </p:txBody>
      </p:sp>
    </p:spTree>
    <p:extLst>
      <p:ext uri="{BB962C8B-B14F-4D97-AF65-F5344CB8AC3E}">
        <p14:creationId xmlns:p14="http://schemas.microsoft.com/office/powerpoint/2010/main" val="2777346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68FC4-0B42-4BF6-8044-BAD055C04E21}"/>
              </a:ext>
            </a:extLst>
          </p:cNvPr>
          <p:cNvSpPr>
            <a:spLocks noGrp="1"/>
          </p:cNvSpPr>
          <p:nvPr>
            <p:ph type="title"/>
          </p:nvPr>
        </p:nvSpPr>
        <p:spPr>
          <a:xfrm>
            <a:off x="838200" y="365126"/>
            <a:ext cx="10515600" cy="679904"/>
          </a:xfrm>
        </p:spPr>
        <p:txBody>
          <a:bodyPr>
            <a:normAutofit fontScale="90000"/>
          </a:bodyPr>
          <a:lstStyle/>
          <a:p>
            <a:r>
              <a:rPr lang="en-IN" dirty="0"/>
              <a:t>Java Operators</a:t>
            </a:r>
          </a:p>
        </p:txBody>
      </p:sp>
      <p:sp>
        <p:nvSpPr>
          <p:cNvPr id="3" name="Content Placeholder 2">
            <a:extLst>
              <a:ext uri="{FF2B5EF4-FFF2-40B4-BE49-F238E27FC236}">
                <a16:creationId xmlns:a16="http://schemas.microsoft.com/office/drawing/2014/main" id="{30A5D073-E24A-4902-9778-948EFF966EC5}"/>
              </a:ext>
            </a:extLst>
          </p:cNvPr>
          <p:cNvSpPr>
            <a:spLocks noGrp="1"/>
          </p:cNvSpPr>
          <p:nvPr>
            <p:ph idx="1"/>
          </p:nvPr>
        </p:nvSpPr>
        <p:spPr>
          <a:xfrm>
            <a:off x="838200" y="1175657"/>
            <a:ext cx="10515600" cy="5001306"/>
          </a:xfrm>
        </p:spPr>
        <p:txBody>
          <a:bodyPr/>
          <a:lstStyle/>
          <a:p>
            <a:r>
              <a:rPr lang="en-US" dirty="0"/>
              <a:t>Java Operators</a:t>
            </a:r>
          </a:p>
          <a:p>
            <a:r>
              <a:rPr lang="en-US" dirty="0"/>
              <a:t>Operators are used to perform operations on variables and values.</a:t>
            </a:r>
          </a:p>
          <a:p>
            <a:r>
              <a:rPr lang="en-US" dirty="0"/>
              <a:t>Java divides the operators into the following groups:</a:t>
            </a:r>
          </a:p>
          <a:p>
            <a:r>
              <a:rPr lang="en-US" dirty="0"/>
              <a:t>Arithmetic operators</a:t>
            </a:r>
          </a:p>
          <a:p>
            <a:r>
              <a:rPr lang="en-US" dirty="0"/>
              <a:t>Assignment operators</a:t>
            </a:r>
          </a:p>
          <a:p>
            <a:r>
              <a:rPr lang="en-US" dirty="0"/>
              <a:t>Comparison operators</a:t>
            </a:r>
          </a:p>
          <a:p>
            <a:r>
              <a:rPr lang="en-US" dirty="0"/>
              <a:t>Logical operators</a:t>
            </a:r>
          </a:p>
          <a:p>
            <a:r>
              <a:rPr lang="en-US" dirty="0"/>
              <a:t>Bitwise operators</a:t>
            </a:r>
          </a:p>
          <a:p>
            <a:pPr marL="0" indent="0">
              <a:buNone/>
            </a:pPr>
            <a:br>
              <a:rPr lang="en-US" dirty="0"/>
            </a:br>
            <a:endParaRPr lang="en-IN" dirty="0"/>
          </a:p>
        </p:txBody>
      </p:sp>
    </p:spTree>
    <p:extLst>
      <p:ext uri="{BB962C8B-B14F-4D97-AF65-F5344CB8AC3E}">
        <p14:creationId xmlns:p14="http://schemas.microsoft.com/office/powerpoint/2010/main" val="764521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5F8A-7C6D-49D6-B33C-B8A343AB26D9}"/>
              </a:ext>
            </a:extLst>
          </p:cNvPr>
          <p:cNvSpPr>
            <a:spLocks noGrp="1"/>
          </p:cNvSpPr>
          <p:nvPr>
            <p:ph type="title"/>
          </p:nvPr>
        </p:nvSpPr>
        <p:spPr>
          <a:xfrm>
            <a:off x="838200" y="365126"/>
            <a:ext cx="10515600" cy="993412"/>
          </a:xfrm>
        </p:spPr>
        <p:txBody>
          <a:bodyPr>
            <a:normAutofit fontScale="90000"/>
          </a:bodyPr>
          <a:lstStyle/>
          <a:p>
            <a:r>
              <a:rPr lang="en-US" dirty="0"/>
              <a:t>Arithmetic operators</a:t>
            </a:r>
            <a:br>
              <a:rPr lang="en-US" dirty="0"/>
            </a:br>
            <a:endParaRPr lang="en-IN" dirty="0"/>
          </a:p>
        </p:txBody>
      </p:sp>
      <p:pic>
        <p:nvPicPr>
          <p:cNvPr id="4" name="Content Placeholder 3">
            <a:extLst>
              <a:ext uri="{FF2B5EF4-FFF2-40B4-BE49-F238E27FC236}">
                <a16:creationId xmlns:a16="http://schemas.microsoft.com/office/drawing/2014/main" id="{E437EFC0-D949-4A8E-B29A-519721004E8A}"/>
              </a:ext>
            </a:extLst>
          </p:cNvPr>
          <p:cNvPicPr>
            <a:picLocks noGrp="1" noChangeAspect="1"/>
          </p:cNvPicPr>
          <p:nvPr>
            <p:ph idx="1"/>
          </p:nvPr>
        </p:nvPicPr>
        <p:blipFill>
          <a:blip r:embed="rId2"/>
          <a:stretch>
            <a:fillRect/>
          </a:stretch>
        </p:blipFill>
        <p:spPr>
          <a:xfrm>
            <a:off x="1184367" y="2090057"/>
            <a:ext cx="9665272" cy="3525950"/>
          </a:xfrm>
          <a:prstGeom prst="rect">
            <a:avLst/>
          </a:prstGeom>
        </p:spPr>
      </p:pic>
    </p:spTree>
    <p:extLst>
      <p:ext uri="{BB962C8B-B14F-4D97-AF65-F5344CB8AC3E}">
        <p14:creationId xmlns:p14="http://schemas.microsoft.com/office/powerpoint/2010/main" val="2988844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48F37-D484-4DF9-A423-8A87AE1E5CE2}"/>
              </a:ext>
            </a:extLst>
          </p:cNvPr>
          <p:cNvSpPr>
            <a:spLocks noGrp="1"/>
          </p:cNvSpPr>
          <p:nvPr>
            <p:ph type="title"/>
          </p:nvPr>
        </p:nvSpPr>
        <p:spPr>
          <a:xfrm>
            <a:off x="838200" y="365125"/>
            <a:ext cx="10515600" cy="1325563"/>
          </a:xfrm>
        </p:spPr>
        <p:txBody>
          <a:bodyPr/>
          <a:lstStyle/>
          <a:p>
            <a:r>
              <a:rPr lang="en-US" dirty="0"/>
              <a:t>Assignment operators</a:t>
            </a:r>
            <a:br>
              <a:rPr lang="en-US" dirty="0"/>
            </a:br>
            <a:endParaRPr lang="en-IN" dirty="0"/>
          </a:p>
        </p:txBody>
      </p:sp>
      <p:pic>
        <p:nvPicPr>
          <p:cNvPr id="4" name="Content Placeholder 3">
            <a:extLst>
              <a:ext uri="{FF2B5EF4-FFF2-40B4-BE49-F238E27FC236}">
                <a16:creationId xmlns:a16="http://schemas.microsoft.com/office/drawing/2014/main" id="{C9706C0C-20E9-4B5B-B0CA-2C6601808A6B}"/>
              </a:ext>
            </a:extLst>
          </p:cNvPr>
          <p:cNvPicPr>
            <a:picLocks noGrp="1" noChangeAspect="1"/>
          </p:cNvPicPr>
          <p:nvPr>
            <p:ph idx="1"/>
          </p:nvPr>
        </p:nvPicPr>
        <p:blipFill>
          <a:blip r:embed="rId2"/>
          <a:stretch>
            <a:fillRect/>
          </a:stretch>
        </p:blipFill>
        <p:spPr>
          <a:xfrm>
            <a:off x="1941285" y="1825625"/>
            <a:ext cx="8309430" cy="4351338"/>
          </a:xfrm>
          <a:prstGeom prst="rect">
            <a:avLst/>
          </a:prstGeom>
        </p:spPr>
      </p:pic>
    </p:spTree>
    <p:extLst>
      <p:ext uri="{BB962C8B-B14F-4D97-AF65-F5344CB8AC3E}">
        <p14:creationId xmlns:p14="http://schemas.microsoft.com/office/powerpoint/2010/main" val="2939707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22D23-1F01-4DF5-8AA4-989C72DF6269}"/>
              </a:ext>
            </a:extLst>
          </p:cNvPr>
          <p:cNvSpPr>
            <a:spLocks noGrp="1"/>
          </p:cNvSpPr>
          <p:nvPr>
            <p:ph type="title"/>
          </p:nvPr>
        </p:nvSpPr>
        <p:spPr/>
        <p:txBody>
          <a:bodyPr/>
          <a:lstStyle/>
          <a:p>
            <a:r>
              <a:rPr lang="en-US" dirty="0"/>
              <a:t>Comparison operators</a:t>
            </a:r>
            <a:br>
              <a:rPr lang="en-US" dirty="0"/>
            </a:br>
            <a:endParaRPr lang="en-IN" dirty="0"/>
          </a:p>
        </p:txBody>
      </p:sp>
      <p:sp>
        <p:nvSpPr>
          <p:cNvPr id="3" name="Content Placeholder 2">
            <a:extLst>
              <a:ext uri="{FF2B5EF4-FFF2-40B4-BE49-F238E27FC236}">
                <a16:creationId xmlns:a16="http://schemas.microsoft.com/office/drawing/2014/main" id="{2E6D69D9-5BA3-4536-BB8A-3E4FF3DC2D1A}"/>
              </a:ext>
            </a:extLst>
          </p:cNvPr>
          <p:cNvSpPr>
            <a:spLocks noGrp="1"/>
          </p:cNvSpPr>
          <p:nvPr>
            <p:ph idx="1"/>
          </p:nvPr>
        </p:nvSpPr>
        <p:spPr>
          <a:xfrm>
            <a:off x="838200" y="1158240"/>
            <a:ext cx="10515600" cy="5018723"/>
          </a:xfrm>
        </p:spPr>
        <p:txBody>
          <a:bodyPr/>
          <a:lstStyle/>
          <a:p>
            <a:r>
              <a:rPr lang="en-US" dirty="0"/>
              <a:t>This is important in programming, because it helps us to find answers and make decisions. The </a:t>
            </a:r>
            <a:r>
              <a:rPr lang="en-US" b="1" dirty="0"/>
              <a:t>return value</a:t>
            </a:r>
            <a:r>
              <a:rPr lang="en-US" dirty="0"/>
              <a:t> of a comparison is either </a:t>
            </a:r>
            <a:r>
              <a:rPr lang="en-US" b="1" dirty="0"/>
              <a:t>true</a:t>
            </a:r>
            <a:r>
              <a:rPr lang="en-US" dirty="0"/>
              <a:t> or </a:t>
            </a:r>
            <a:r>
              <a:rPr lang="en-US" b="1" dirty="0"/>
              <a:t>false</a:t>
            </a:r>
            <a:r>
              <a:rPr lang="en-US" dirty="0"/>
              <a:t>. These values are known as </a:t>
            </a:r>
            <a:r>
              <a:rPr lang="en-US" b="1" dirty="0"/>
              <a:t>Boolean values.</a:t>
            </a:r>
            <a:endParaRPr lang="en-IN" b="1" dirty="0"/>
          </a:p>
        </p:txBody>
      </p:sp>
      <p:pic>
        <p:nvPicPr>
          <p:cNvPr id="5" name="Picture 4">
            <a:extLst>
              <a:ext uri="{FF2B5EF4-FFF2-40B4-BE49-F238E27FC236}">
                <a16:creationId xmlns:a16="http://schemas.microsoft.com/office/drawing/2014/main" id="{E8B6A16D-CE42-46F3-A06F-12B78AD0EB0B}"/>
              </a:ext>
            </a:extLst>
          </p:cNvPr>
          <p:cNvPicPr>
            <a:picLocks noChangeAspect="1"/>
          </p:cNvPicPr>
          <p:nvPr/>
        </p:nvPicPr>
        <p:blipFill>
          <a:blip r:embed="rId2"/>
          <a:stretch>
            <a:fillRect/>
          </a:stretch>
        </p:blipFill>
        <p:spPr>
          <a:xfrm>
            <a:off x="885098" y="2932012"/>
            <a:ext cx="10421804" cy="2753109"/>
          </a:xfrm>
          <a:prstGeom prst="rect">
            <a:avLst/>
          </a:prstGeom>
        </p:spPr>
      </p:pic>
    </p:spTree>
    <p:extLst>
      <p:ext uri="{BB962C8B-B14F-4D97-AF65-F5344CB8AC3E}">
        <p14:creationId xmlns:p14="http://schemas.microsoft.com/office/powerpoint/2010/main" val="803682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E94D3-53D4-439D-87ED-EF5BA73827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258D7B-FCE9-46D0-9DE5-9C1FAD6D9365}"/>
              </a:ext>
            </a:extLst>
          </p:cNvPr>
          <p:cNvSpPr>
            <a:spLocks noGrp="1"/>
          </p:cNvSpPr>
          <p:nvPr>
            <p:ph idx="1"/>
          </p:nvPr>
        </p:nvSpPr>
        <p:spPr/>
        <p:txBody>
          <a:bodyPr>
            <a:normAutofit fontScale="92500" lnSpcReduction="10000"/>
          </a:bodyPr>
          <a:lstStyle/>
          <a:p>
            <a:pPr marL="0" indent="0">
              <a:buNone/>
            </a:pPr>
            <a:r>
              <a:rPr lang="en-US" dirty="0"/>
              <a:t>class </a:t>
            </a:r>
            <a:r>
              <a:rPr lang="en-US" dirty="0" err="1"/>
              <a:t>MyComparisonOperator</a:t>
            </a:r>
            <a:endParaRPr lang="en-US" dirty="0"/>
          </a:p>
          <a:p>
            <a:pPr marL="0" indent="0">
              <a:buNone/>
            </a:pPr>
            <a:r>
              <a:rPr lang="en-US" dirty="0"/>
              <a:t>{</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int x = 5;</a:t>
            </a:r>
          </a:p>
          <a:p>
            <a:pPr marL="0" indent="0">
              <a:buNone/>
            </a:pPr>
            <a:r>
              <a:rPr lang="en-US" dirty="0"/>
              <a:t>		int y = 3;</a:t>
            </a:r>
          </a:p>
          <a:p>
            <a:pPr marL="0" indent="0">
              <a:buNone/>
            </a:pPr>
            <a:r>
              <a:rPr lang="en-US" dirty="0"/>
              <a:t>		</a:t>
            </a:r>
            <a:r>
              <a:rPr lang="en-US" dirty="0" err="1"/>
              <a:t>System.out.println</a:t>
            </a:r>
            <a:r>
              <a:rPr lang="en-US" dirty="0"/>
              <a:t>(x &gt; y); // returns true, because 5 is higher 							than 3</a:t>
            </a:r>
          </a:p>
          <a:p>
            <a:pPr marL="0" indent="0">
              <a:buNone/>
            </a:pPr>
            <a:r>
              <a:rPr lang="en-US" dirty="0"/>
              <a:t>	}</a:t>
            </a:r>
          </a:p>
          <a:p>
            <a:pPr marL="0" indent="0">
              <a:buNone/>
            </a:pPr>
            <a:r>
              <a:rPr lang="en-US" dirty="0"/>
              <a:t>}</a:t>
            </a:r>
            <a:endParaRPr lang="en-IN" dirty="0"/>
          </a:p>
        </p:txBody>
      </p:sp>
    </p:spTree>
    <p:extLst>
      <p:ext uri="{BB962C8B-B14F-4D97-AF65-F5344CB8AC3E}">
        <p14:creationId xmlns:p14="http://schemas.microsoft.com/office/powerpoint/2010/main" val="2877636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ADF8F-F6A0-4AA2-86BE-A0AB7C82E248}"/>
              </a:ext>
            </a:extLst>
          </p:cNvPr>
          <p:cNvSpPr>
            <a:spLocks noGrp="1"/>
          </p:cNvSpPr>
          <p:nvPr>
            <p:ph type="title"/>
          </p:nvPr>
        </p:nvSpPr>
        <p:spPr/>
        <p:txBody>
          <a:bodyPr/>
          <a:lstStyle/>
          <a:p>
            <a:r>
              <a:rPr lang="en-US" dirty="0"/>
              <a:t>Logical operators</a:t>
            </a:r>
            <a:br>
              <a:rPr lang="en-US" dirty="0"/>
            </a:br>
            <a:endParaRPr lang="en-IN" dirty="0"/>
          </a:p>
        </p:txBody>
      </p:sp>
      <p:pic>
        <p:nvPicPr>
          <p:cNvPr id="4" name="Content Placeholder 3">
            <a:extLst>
              <a:ext uri="{FF2B5EF4-FFF2-40B4-BE49-F238E27FC236}">
                <a16:creationId xmlns:a16="http://schemas.microsoft.com/office/drawing/2014/main" id="{CA1011EA-B0BB-4107-9BDF-F4630FFE3C9E}"/>
              </a:ext>
            </a:extLst>
          </p:cNvPr>
          <p:cNvPicPr>
            <a:picLocks noGrp="1" noChangeAspect="1"/>
          </p:cNvPicPr>
          <p:nvPr>
            <p:ph idx="1"/>
          </p:nvPr>
        </p:nvPicPr>
        <p:blipFill>
          <a:blip r:embed="rId2"/>
          <a:stretch>
            <a:fillRect/>
          </a:stretch>
        </p:blipFill>
        <p:spPr>
          <a:xfrm>
            <a:off x="924164" y="1885735"/>
            <a:ext cx="10221751" cy="2364048"/>
          </a:xfrm>
          <a:prstGeom prst="rect">
            <a:avLst/>
          </a:prstGeom>
        </p:spPr>
      </p:pic>
    </p:spTree>
    <p:extLst>
      <p:ext uri="{BB962C8B-B14F-4D97-AF65-F5344CB8AC3E}">
        <p14:creationId xmlns:p14="http://schemas.microsoft.com/office/powerpoint/2010/main" val="2341590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C7CA6-58E4-43E5-841D-3405146FB05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B5B06C4-6A94-486F-B542-ECD9492673A7}"/>
              </a:ext>
            </a:extLst>
          </p:cNvPr>
          <p:cNvSpPr>
            <a:spLocks noGrp="1"/>
          </p:cNvSpPr>
          <p:nvPr>
            <p:ph idx="1"/>
          </p:nvPr>
        </p:nvSpPr>
        <p:spPr/>
        <p:txBody>
          <a:bodyPr>
            <a:normAutofit lnSpcReduction="10000"/>
          </a:bodyPr>
          <a:lstStyle/>
          <a:p>
            <a:pPr marL="0" indent="0">
              <a:buNone/>
            </a:pPr>
            <a:r>
              <a:rPr lang="en-US" dirty="0"/>
              <a:t>public class </a:t>
            </a:r>
            <a:r>
              <a:rPr lang="en-US" dirty="0" err="1"/>
              <a:t>MyLogicalOperatopr</a:t>
            </a:r>
            <a:endParaRPr lang="en-US" dirty="0"/>
          </a:p>
          <a:p>
            <a:pPr marL="0" indent="0">
              <a:buNone/>
            </a:pPr>
            <a:r>
              <a:rPr lang="en-US" dirty="0"/>
              <a:t>{</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int x = 5;</a:t>
            </a:r>
          </a:p>
          <a:p>
            <a:pPr marL="0" indent="0">
              <a:buNone/>
            </a:pPr>
            <a:r>
              <a:rPr lang="en-US" dirty="0"/>
              <a:t>    int y = 3;</a:t>
            </a:r>
          </a:p>
          <a:p>
            <a:pPr marL="0" indent="0">
              <a:buNone/>
            </a:pPr>
            <a:r>
              <a:rPr lang="en-US" dirty="0"/>
              <a:t>    </a:t>
            </a:r>
            <a:r>
              <a:rPr lang="en-US" dirty="0" err="1"/>
              <a:t>System.out.println</a:t>
            </a:r>
            <a:r>
              <a:rPr lang="en-US" dirty="0"/>
              <a:t>(x == y); // returns false because 5 is not equal to 3</a:t>
            </a:r>
          </a:p>
          <a:p>
            <a:pPr marL="0" indent="0">
              <a:buNone/>
            </a:pPr>
            <a:r>
              <a:rPr lang="en-US" dirty="0"/>
              <a:t>  }</a:t>
            </a:r>
          </a:p>
          <a:p>
            <a:pPr marL="0" indent="0">
              <a:buNone/>
            </a:pPr>
            <a:r>
              <a:rPr lang="en-US" dirty="0"/>
              <a:t>}</a:t>
            </a:r>
          </a:p>
          <a:p>
            <a:endParaRPr lang="en-IN" dirty="0"/>
          </a:p>
        </p:txBody>
      </p:sp>
    </p:spTree>
    <p:extLst>
      <p:ext uri="{BB962C8B-B14F-4D97-AF65-F5344CB8AC3E}">
        <p14:creationId xmlns:p14="http://schemas.microsoft.com/office/powerpoint/2010/main" val="39935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0317E-4923-4BE9-9ECF-6575EF00D573}"/>
              </a:ext>
            </a:extLst>
          </p:cNvPr>
          <p:cNvSpPr>
            <a:spLocks noGrp="1"/>
          </p:cNvSpPr>
          <p:nvPr>
            <p:ph type="title"/>
          </p:nvPr>
        </p:nvSpPr>
        <p:spPr/>
        <p:txBody>
          <a:bodyPr/>
          <a:lstStyle/>
          <a:p>
            <a:r>
              <a:rPr lang="en-US" dirty="0"/>
              <a:t>Bitwise operators</a:t>
            </a:r>
            <a:br>
              <a:rPr lang="en-US" dirty="0"/>
            </a:br>
            <a:endParaRPr lang="en-IN" dirty="0"/>
          </a:p>
        </p:txBody>
      </p:sp>
      <p:pic>
        <p:nvPicPr>
          <p:cNvPr id="4" name="Content Placeholder 3">
            <a:extLst>
              <a:ext uri="{FF2B5EF4-FFF2-40B4-BE49-F238E27FC236}">
                <a16:creationId xmlns:a16="http://schemas.microsoft.com/office/drawing/2014/main" id="{614820B0-4FF9-4BF7-A38F-F876A419636D}"/>
              </a:ext>
            </a:extLst>
          </p:cNvPr>
          <p:cNvPicPr>
            <a:picLocks noGrp="1" noChangeAspect="1"/>
          </p:cNvPicPr>
          <p:nvPr>
            <p:ph idx="1"/>
          </p:nvPr>
        </p:nvPicPr>
        <p:blipFill>
          <a:blip r:embed="rId2"/>
          <a:stretch>
            <a:fillRect/>
          </a:stretch>
        </p:blipFill>
        <p:spPr>
          <a:xfrm>
            <a:off x="2220687" y="1690688"/>
            <a:ext cx="6960510" cy="4486275"/>
          </a:xfrm>
          <a:prstGeom prst="rect">
            <a:avLst/>
          </a:prstGeom>
        </p:spPr>
      </p:pic>
    </p:spTree>
    <p:extLst>
      <p:ext uri="{BB962C8B-B14F-4D97-AF65-F5344CB8AC3E}">
        <p14:creationId xmlns:p14="http://schemas.microsoft.com/office/powerpoint/2010/main" val="4111524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7F818-3A9A-4D57-B5C2-E5FF5C63C64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0BAED1-FF78-47B0-8A2C-38C0734D4F1A}"/>
              </a:ext>
            </a:extLst>
          </p:cNvPr>
          <p:cNvSpPr>
            <a:spLocks noGrp="1"/>
          </p:cNvSpPr>
          <p:nvPr>
            <p:ph idx="1"/>
          </p:nvPr>
        </p:nvSpPr>
        <p:spPr/>
        <p:txBody>
          <a:bodyPr>
            <a:normAutofit fontScale="55000" lnSpcReduction="20000"/>
          </a:bodyPr>
          <a:lstStyle/>
          <a:p>
            <a:pPr marL="0" indent="0">
              <a:buNone/>
            </a:pPr>
            <a:r>
              <a:rPr lang="en-IN" dirty="0"/>
              <a:t>public class Test </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int a = 60;	/* 60 = 0011 1100 */</a:t>
            </a:r>
          </a:p>
          <a:p>
            <a:pPr marL="0" indent="0">
              <a:buNone/>
            </a:pPr>
            <a:r>
              <a:rPr lang="en-IN" dirty="0"/>
              <a:t>      int b = 13;	/* 13 = 0000 1101 */</a:t>
            </a:r>
          </a:p>
          <a:p>
            <a:pPr marL="0" indent="0">
              <a:buNone/>
            </a:pPr>
            <a:r>
              <a:rPr lang="en-IN" dirty="0"/>
              <a:t>      int c = 0;</a:t>
            </a:r>
          </a:p>
          <a:p>
            <a:endParaRPr lang="en-IN" dirty="0"/>
          </a:p>
          <a:p>
            <a:pPr marL="0" indent="0">
              <a:buNone/>
            </a:pPr>
            <a:r>
              <a:rPr lang="en-IN" dirty="0"/>
              <a:t>      c = a &amp; b;        /* 12 = 0000 1100 */</a:t>
            </a:r>
          </a:p>
          <a:p>
            <a:pPr marL="0" indent="0">
              <a:buNone/>
            </a:pPr>
            <a:r>
              <a:rPr lang="en-IN" dirty="0"/>
              <a:t>      </a:t>
            </a:r>
            <a:r>
              <a:rPr lang="en-IN" dirty="0" err="1"/>
              <a:t>System.out.println</a:t>
            </a:r>
            <a:r>
              <a:rPr lang="en-IN" dirty="0"/>
              <a:t>("a &amp; b = " + c );</a:t>
            </a:r>
          </a:p>
          <a:p>
            <a:endParaRPr lang="en-IN" dirty="0"/>
          </a:p>
          <a:p>
            <a:pPr marL="0" indent="0">
              <a:buNone/>
            </a:pPr>
            <a:r>
              <a:rPr lang="en-IN" dirty="0"/>
              <a:t>      c = a | b;        /* 61 = 0011 1101 */</a:t>
            </a:r>
          </a:p>
          <a:p>
            <a:pPr marL="0" indent="0">
              <a:buNone/>
            </a:pPr>
            <a:r>
              <a:rPr lang="en-IN" dirty="0"/>
              <a:t>      </a:t>
            </a:r>
            <a:r>
              <a:rPr lang="en-IN" dirty="0" err="1"/>
              <a:t>System.out.println</a:t>
            </a:r>
            <a:r>
              <a:rPr lang="en-IN" dirty="0"/>
              <a:t>("a | b = " + c );</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3643079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6D02-8178-4CD4-AEC4-C313859FCC6A}"/>
              </a:ext>
            </a:extLst>
          </p:cNvPr>
          <p:cNvSpPr>
            <a:spLocks noGrp="1"/>
          </p:cNvSpPr>
          <p:nvPr>
            <p:ph type="title"/>
          </p:nvPr>
        </p:nvSpPr>
        <p:spPr/>
        <p:txBody>
          <a:bodyPr/>
          <a:lstStyle/>
          <a:p>
            <a:r>
              <a:rPr lang="en-IN" dirty="0"/>
              <a:t>Miscellaneous Operators</a:t>
            </a:r>
            <a:br>
              <a:rPr lang="en-IN" dirty="0"/>
            </a:br>
            <a:endParaRPr lang="en-IN" dirty="0"/>
          </a:p>
        </p:txBody>
      </p:sp>
      <p:sp>
        <p:nvSpPr>
          <p:cNvPr id="3" name="Content Placeholder 2">
            <a:extLst>
              <a:ext uri="{FF2B5EF4-FFF2-40B4-BE49-F238E27FC236}">
                <a16:creationId xmlns:a16="http://schemas.microsoft.com/office/drawing/2014/main" id="{7CB63C74-7163-437E-9F97-A1C01B4D530F}"/>
              </a:ext>
            </a:extLst>
          </p:cNvPr>
          <p:cNvSpPr>
            <a:spLocks noGrp="1"/>
          </p:cNvSpPr>
          <p:nvPr>
            <p:ph idx="1"/>
          </p:nvPr>
        </p:nvSpPr>
        <p:spPr/>
        <p:txBody>
          <a:bodyPr/>
          <a:lstStyle/>
          <a:p>
            <a:r>
              <a:rPr lang="en-IN" dirty="0"/>
              <a:t>Conditional Operator ( ? : )</a:t>
            </a:r>
          </a:p>
          <a:p>
            <a:r>
              <a:rPr lang="en-IN" dirty="0" err="1"/>
              <a:t>instanceof</a:t>
            </a:r>
            <a:r>
              <a:rPr lang="en-IN" dirty="0"/>
              <a:t> Operator</a:t>
            </a:r>
          </a:p>
          <a:p>
            <a:endParaRPr lang="en-IN" dirty="0"/>
          </a:p>
        </p:txBody>
      </p:sp>
    </p:spTree>
    <p:extLst>
      <p:ext uri="{BB962C8B-B14F-4D97-AF65-F5344CB8AC3E}">
        <p14:creationId xmlns:p14="http://schemas.microsoft.com/office/powerpoint/2010/main" val="239082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F80EF-6785-4628-84EB-3C60772AEE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9ECEA90-FFF0-420A-91E3-20AC872B54DA}"/>
              </a:ext>
            </a:extLst>
          </p:cNvPr>
          <p:cNvSpPr>
            <a:spLocks noGrp="1"/>
          </p:cNvSpPr>
          <p:nvPr>
            <p:ph idx="1"/>
          </p:nvPr>
        </p:nvSpPr>
        <p:spPr/>
        <p:txBody>
          <a:bodyPr/>
          <a:lstStyle/>
          <a:p>
            <a:pPr algn="just"/>
            <a:r>
              <a:rPr lang="en-IN" dirty="0"/>
              <a:t>Conditional Operator ( ? : )</a:t>
            </a:r>
          </a:p>
          <a:p>
            <a:pPr algn="just"/>
            <a:r>
              <a:rPr lang="en-US" dirty="0"/>
              <a:t>Conditional operator is also known as the </a:t>
            </a:r>
            <a:r>
              <a:rPr lang="en-US" b="1" dirty="0"/>
              <a:t>ternary operator</a:t>
            </a:r>
            <a:r>
              <a:rPr lang="en-US" dirty="0"/>
              <a:t>. This operator consists of three operands and is used to evaluate Boolean expressions. The goal of the operator is to decide, which value should be assigned to the variable.</a:t>
            </a:r>
          </a:p>
          <a:p>
            <a:pPr algn="just"/>
            <a:r>
              <a:rPr lang="en-US" dirty="0"/>
              <a:t>Syntax</a:t>
            </a:r>
          </a:p>
          <a:p>
            <a:pPr algn="just"/>
            <a:r>
              <a:rPr lang="en-US" dirty="0"/>
              <a:t>variable x = (expression) ? value if true : value if false</a:t>
            </a:r>
          </a:p>
          <a:p>
            <a:pPr algn="just"/>
            <a:endParaRPr lang="en-IN" dirty="0"/>
          </a:p>
        </p:txBody>
      </p:sp>
    </p:spTree>
    <p:extLst>
      <p:ext uri="{BB962C8B-B14F-4D97-AF65-F5344CB8AC3E}">
        <p14:creationId xmlns:p14="http://schemas.microsoft.com/office/powerpoint/2010/main" val="89329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E19E9-D173-4815-99F0-E414E7F3B9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7D85B7-7DFA-420B-B94E-DC52EB0D4902}"/>
              </a:ext>
            </a:extLst>
          </p:cNvPr>
          <p:cNvSpPr>
            <a:spLocks noGrp="1"/>
          </p:cNvSpPr>
          <p:nvPr>
            <p:ph idx="1"/>
          </p:nvPr>
        </p:nvSpPr>
        <p:spPr/>
        <p:txBody>
          <a:bodyPr>
            <a:normAutofit fontScale="62500" lnSpcReduction="20000"/>
          </a:bodyPr>
          <a:lstStyle/>
          <a:p>
            <a:pPr marL="0" indent="0">
              <a:buNone/>
            </a:pPr>
            <a:r>
              <a:rPr lang="en-IN" dirty="0"/>
              <a:t>public class Test</a:t>
            </a:r>
          </a:p>
          <a:p>
            <a:pPr marL="0" indent="0">
              <a:buNone/>
            </a:pPr>
            <a:r>
              <a:rPr lang="en-IN" dirty="0"/>
              <a:t>{</a:t>
            </a:r>
          </a:p>
          <a:p>
            <a:pPr marL="0" indent="0">
              <a:buNone/>
            </a:pPr>
            <a:r>
              <a:rPr lang="en-IN" dirty="0"/>
              <a:t>   public static void main(String </a:t>
            </a:r>
            <a:r>
              <a:rPr lang="en-IN" dirty="0" err="1"/>
              <a:t>args</a:t>
            </a:r>
            <a:r>
              <a:rPr lang="en-IN" dirty="0"/>
              <a:t>[])</a:t>
            </a:r>
          </a:p>
          <a:p>
            <a:pPr marL="0" indent="0">
              <a:buNone/>
            </a:pPr>
            <a:r>
              <a:rPr lang="en-IN" dirty="0"/>
              <a:t>   {</a:t>
            </a:r>
          </a:p>
          <a:p>
            <a:pPr marL="0" indent="0">
              <a:buNone/>
            </a:pPr>
            <a:r>
              <a:rPr lang="en-IN" dirty="0"/>
              <a:t>      int a, b;</a:t>
            </a:r>
          </a:p>
          <a:p>
            <a:pPr marL="0" indent="0">
              <a:buNone/>
            </a:pPr>
            <a:r>
              <a:rPr lang="en-IN" dirty="0"/>
              <a:t>      a = 10;</a:t>
            </a:r>
          </a:p>
          <a:p>
            <a:pPr marL="0" indent="0">
              <a:buNone/>
            </a:pPr>
            <a:r>
              <a:rPr lang="en-IN" dirty="0"/>
              <a:t>      b = (a == 1) ? 20: 30;</a:t>
            </a:r>
          </a:p>
          <a:p>
            <a:pPr marL="0" indent="0">
              <a:buNone/>
            </a:pPr>
            <a:r>
              <a:rPr lang="en-IN" dirty="0"/>
              <a:t>      </a:t>
            </a:r>
            <a:r>
              <a:rPr lang="en-IN" dirty="0" err="1"/>
              <a:t>System.out.println</a:t>
            </a:r>
            <a:r>
              <a:rPr lang="en-IN" dirty="0"/>
              <a:t>( "Value of b is : " +  b );</a:t>
            </a:r>
          </a:p>
          <a:p>
            <a:endParaRPr lang="en-IN" dirty="0"/>
          </a:p>
          <a:p>
            <a:pPr marL="0" indent="0">
              <a:buNone/>
            </a:pPr>
            <a:r>
              <a:rPr lang="en-IN" dirty="0"/>
              <a:t>      b = (a == 10) ? 20: 30;</a:t>
            </a:r>
          </a:p>
          <a:p>
            <a:pPr marL="0" indent="0">
              <a:buNone/>
            </a:pPr>
            <a:r>
              <a:rPr lang="en-IN" dirty="0"/>
              <a:t>      </a:t>
            </a:r>
            <a:r>
              <a:rPr lang="en-IN" dirty="0" err="1"/>
              <a:t>System.out.println</a:t>
            </a:r>
            <a:r>
              <a:rPr lang="en-IN" dirty="0"/>
              <a:t>( "Value of b is : " + b );</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1195767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D9A8-32A4-47A6-8733-73A4258922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C118BC-307D-4ED0-8E42-957CFF19BCAB}"/>
              </a:ext>
            </a:extLst>
          </p:cNvPr>
          <p:cNvSpPr>
            <a:spLocks noGrp="1"/>
          </p:cNvSpPr>
          <p:nvPr>
            <p:ph idx="1"/>
          </p:nvPr>
        </p:nvSpPr>
        <p:spPr/>
        <p:txBody>
          <a:bodyPr/>
          <a:lstStyle/>
          <a:p>
            <a:r>
              <a:rPr lang="en-US" dirty="0" err="1"/>
              <a:t>instanceof</a:t>
            </a:r>
            <a:r>
              <a:rPr lang="en-US" dirty="0"/>
              <a:t> Operator</a:t>
            </a:r>
          </a:p>
          <a:p>
            <a:r>
              <a:rPr lang="en-US" dirty="0"/>
              <a:t>This operator is used only for object reference variables. The operator checks whether the object is of a particular type (class type or interface type).</a:t>
            </a:r>
          </a:p>
          <a:p>
            <a:r>
              <a:rPr lang="en-US" dirty="0"/>
              <a:t>Syntax</a:t>
            </a:r>
          </a:p>
          <a:p>
            <a:r>
              <a:rPr lang="en-US" dirty="0"/>
              <a:t>( Object reference variable ) </a:t>
            </a:r>
            <a:r>
              <a:rPr lang="en-US" dirty="0" err="1"/>
              <a:t>instanceof</a:t>
            </a:r>
            <a:r>
              <a:rPr lang="en-US" dirty="0"/>
              <a:t>  (class/interface type)</a:t>
            </a:r>
            <a:endParaRPr lang="en-IN" dirty="0"/>
          </a:p>
        </p:txBody>
      </p:sp>
    </p:spTree>
    <p:extLst>
      <p:ext uri="{BB962C8B-B14F-4D97-AF65-F5344CB8AC3E}">
        <p14:creationId xmlns:p14="http://schemas.microsoft.com/office/powerpoint/2010/main" val="825858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6EAFF-85A0-4DFF-83AF-6989F7BDF6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7F41382-8601-4490-8519-16E3F3124CE4}"/>
              </a:ext>
            </a:extLst>
          </p:cNvPr>
          <p:cNvSpPr>
            <a:spLocks noGrp="1"/>
          </p:cNvSpPr>
          <p:nvPr>
            <p:ph idx="1"/>
          </p:nvPr>
        </p:nvSpPr>
        <p:spPr/>
        <p:txBody>
          <a:bodyPr>
            <a:normAutofit fontScale="92500" lnSpcReduction="20000"/>
          </a:bodyPr>
          <a:lstStyle/>
          <a:p>
            <a:pPr marL="0" indent="0">
              <a:buNone/>
            </a:pPr>
            <a:r>
              <a:rPr lang="en-US" dirty="0"/>
              <a:t>public class Test</a:t>
            </a:r>
          </a:p>
          <a:p>
            <a:pPr marL="0" indent="0">
              <a:buNone/>
            </a:pPr>
            <a:r>
              <a:rPr lang="en-US" dirty="0"/>
              <a:t>{</a:t>
            </a:r>
          </a:p>
          <a:p>
            <a:pPr marL="0" indent="0">
              <a:buNone/>
            </a:pPr>
            <a:r>
              <a:rPr lang="en-US" dirty="0"/>
              <a:t>  public static void main(String </a:t>
            </a:r>
            <a:r>
              <a:rPr lang="en-US" dirty="0" err="1"/>
              <a:t>args</a:t>
            </a:r>
            <a:r>
              <a:rPr lang="en-US" dirty="0"/>
              <a:t>[]) </a:t>
            </a:r>
          </a:p>
          <a:p>
            <a:pPr marL="0" indent="0">
              <a:buNone/>
            </a:pPr>
            <a:r>
              <a:rPr lang="en-US" dirty="0"/>
              <a:t>  {</a:t>
            </a:r>
          </a:p>
          <a:p>
            <a:pPr marL="0" indent="0">
              <a:buNone/>
            </a:pPr>
            <a:r>
              <a:rPr lang="en-US" dirty="0"/>
              <a:t>    String name = “SIT";</a:t>
            </a:r>
          </a:p>
          <a:p>
            <a:pPr marL="0" indent="0">
              <a:buNone/>
            </a:pPr>
            <a:r>
              <a:rPr lang="en-US" dirty="0"/>
              <a:t>    // following will return true since name is type of String</a:t>
            </a:r>
          </a:p>
          <a:p>
            <a:pPr marL="0" indent="0">
              <a:buNone/>
            </a:pPr>
            <a:r>
              <a:rPr lang="en-US" dirty="0"/>
              <a:t>     </a:t>
            </a:r>
            <a:r>
              <a:rPr lang="en-US" dirty="0" err="1"/>
              <a:t>boolean</a:t>
            </a:r>
            <a:r>
              <a:rPr lang="en-US" dirty="0"/>
              <a:t> result = name </a:t>
            </a:r>
            <a:r>
              <a:rPr lang="en-US" dirty="0" err="1"/>
              <a:t>instanceof</a:t>
            </a:r>
            <a:r>
              <a:rPr lang="en-US" dirty="0"/>
              <a:t> String;</a:t>
            </a:r>
          </a:p>
          <a:p>
            <a:pPr marL="0" indent="0">
              <a:buNone/>
            </a:pPr>
            <a:r>
              <a:rPr lang="en-US" dirty="0"/>
              <a:t>     </a:t>
            </a:r>
            <a:r>
              <a:rPr lang="en-US" dirty="0" err="1"/>
              <a:t>System.out.println</a:t>
            </a:r>
            <a:r>
              <a:rPr lang="en-US" dirty="0"/>
              <a:t>( result );</a:t>
            </a:r>
          </a:p>
          <a:p>
            <a:pPr marL="0" indent="0">
              <a:buNone/>
            </a:pPr>
            <a:r>
              <a:rPr lang="en-US" dirty="0"/>
              <a:t>   }</a:t>
            </a:r>
          </a:p>
          <a:p>
            <a:pPr marL="0" indent="0">
              <a:buNone/>
            </a:pPr>
            <a:r>
              <a:rPr lang="en-US" dirty="0"/>
              <a:t>}</a:t>
            </a:r>
            <a:endParaRPr lang="en-IN" dirty="0"/>
          </a:p>
        </p:txBody>
      </p:sp>
    </p:spTree>
    <p:extLst>
      <p:ext uri="{BB962C8B-B14F-4D97-AF65-F5344CB8AC3E}">
        <p14:creationId xmlns:p14="http://schemas.microsoft.com/office/powerpoint/2010/main" val="331743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EA34-A60F-498C-9F37-3C8B2DC559D7}"/>
              </a:ext>
            </a:extLst>
          </p:cNvPr>
          <p:cNvSpPr>
            <a:spLocks noGrp="1"/>
          </p:cNvSpPr>
          <p:nvPr>
            <p:ph type="title"/>
          </p:nvPr>
        </p:nvSpPr>
        <p:spPr/>
        <p:txBody>
          <a:bodyPr/>
          <a:lstStyle/>
          <a:p>
            <a:r>
              <a:rPr lang="en-IN" dirty="0"/>
              <a:t>User Input in Java</a:t>
            </a:r>
            <a:br>
              <a:rPr lang="en-IN" dirty="0"/>
            </a:br>
            <a:endParaRPr lang="en-IN" dirty="0"/>
          </a:p>
        </p:txBody>
      </p:sp>
      <p:sp>
        <p:nvSpPr>
          <p:cNvPr id="3" name="Content Placeholder 2">
            <a:extLst>
              <a:ext uri="{FF2B5EF4-FFF2-40B4-BE49-F238E27FC236}">
                <a16:creationId xmlns:a16="http://schemas.microsoft.com/office/drawing/2014/main" id="{9CCF8C30-698D-42A9-9BE9-04DAEB11B31D}"/>
              </a:ext>
            </a:extLst>
          </p:cNvPr>
          <p:cNvSpPr>
            <a:spLocks noGrp="1"/>
          </p:cNvSpPr>
          <p:nvPr>
            <p:ph idx="1"/>
          </p:nvPr>
        </p:nvSpPr>
        <p:spPr/>
        <p:txBody>
          <a:bodyPr/>
          <a:lstStyle/>
          <a:p>
            <a:pPr algn="just"/>
            <a:r>
              <a:rPr lang="en-US" dirty="0"/>
              <a:t>To take input from the user in Java, the Scanner class is used. The Scanner class a built-in class of </a:t>
            </a:r>
            <a:r>
              <a:rPr lang="en-US" dirty="0" err="1"/>
              <a:t>java.util</a:t>
            </a:r>
            <a:r>
              <a:rPr lang="en-US" dirty="0"/>
              <a:t> package.</a:t>
            </a:r>
          </a:p>
          <a:p>
            <a:pPr algn="just"/>
            <a:r>
              <a:rPr lang="en-US" dirty="0"/>
              <a:t>Java Scanner class provides many built-in methods to take different types of user inputs from the users.</a:t>
            </a:r>
          </a:p>
          <a:p>
            <a:pPr algn="just"/>
            <a:r>
              <a:rPr lang="en-US" dirty="0"/>
              <a:t>How to Use Scanner Class to Take User Input?</a:t>
            </a:r>
          </a:p>
          <a:p>
            <a:pPr algn="just"/>
            <a:endParaRPr lang="en-US" dirty="0"/>
          </a:p>
          <a:p>
            <a:pPr algn="just"/>
            <a:endParaRPr lang="en-IN" dirty="0"/>
          </a:p>
        </p:txBody>
      </p:sp>
    </p:spTree>
    <p:extLst>
      <p:ext uri="{BB962C8B-B14F-4D97-AF65-F5344CB8AC3E}">
        <p14:creationId xmlns:p14="http://schemas.microsoft.com/office/powerpoint/2010/main" val="1565916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F493F-7A65-4E37-A62F-17CC8211D558}"/>
              </a:ext>
            </a:extLst>
          </p:cNvPr>
          <p:cNvSpPr>
            <a:spLocks noGrp="1"/>
          </p:cNvSpPr>
          <p:nvPr>
            <p:ph type="title"/>
          </p:nvPr>
        </p:nvSpPr>
        <p:spPr/>
        <p:txBody>
          <a:bodyPr/>
          <a:lstStyle/>
          <a:p>
            <a:r>
              <a:rPr lang="en-US" dirty="0"/>
              <a:t>How to Use Scanner Class to Take User Input?</a:t>
            </a:r>
            <a:br>
              <a:rPr lang="en-US" dirty="0"/>
            </a:br>
            <a:endParaRPr lang="en-IN" dirty="0"/>
          </a:p>
        </p:txBody>
      </p:sp>
      <p:sp>
        <p:nvSpPr>
          <p:cNvPr id="3" name="Content Placeholder 2">
            <a:extLst>
              <a:ext uri="{FF2B5EF4-FFF2-40B4-BE49-F238E27FC236}">
                <a16:creationId xmlns:a16="http://schemas.microsoft.com/office/drawing/2014/main" id="{01AD0420-F363-4564-A688-DE74CA796C87}"/>
              </a:ext>
            </a:extLst>
          </p:cNvPr>
          <p:cNvSpPr>
            <a:spLocks noGrp="1"/>
          </p:cNvSpPr>
          <p:nvPr>
            <p:ph idx="1"/>
          </p:nvPr>
        </p:nvSpPr>
        <p:spPr/>
        <p:txBody>
          <a:bodyPr>
            <a:normAutofit lnSpcReduction="10000"/>
          </a:bodyPr>
          <a:lstStyle/>
          <a:p>
            <a:pPr algn="just"/>
            <a:r>
              <a:rPr lang="en-US" dirty="0"/>
              <a:t>Step 1 : </a:t>
            </a:r>
            <a:r>
              <a:rPr lang="en-IN" dirty="0"/>
              <a:t>Import Scanner Class</a:t>
            </a:r>
          </a:p>
          <a:p>
            <a:pPr marL="0" indent="0" algn="just">
              <a:buNone/>
            </a:pPr>
            <a:r>
              <a:rPr lang="en-US" dirty="0"/>
              <a:t>   First you need to import the Scanner class to use its methods. To                    </a:t>
            </a:r>
          </a:p>
          <a:p>
            <a:pPr marL="0" indent="0" algn="just">
              <a:buNone/>
            </a:pPr>
            <a:r>
              <a:rPr lang="en-US" dirty="0"/>
              <a:t>   import the Scanner class, use the following import statement −</a:t>
            </a:r>
            <a:endParaRPr lang="en-IN" dirty="0"/>
          </a:p>
          <a:p>
            <a:pPr marL="0" indent="0" algn="just">
              <a:buNone/>
            </a:pPr>
            <a:r>
              <a:rPr lang="en-IN" dirty="0"/>
              <a:t>   </a:t>
            </a:r>
            <a:r>
              <a:rPr lang="en-IN" b="1" dirty="0"/>
              <a:t>import </a:t>
            </a:r>
            <a:r>
              <a:rPr lang="en-IN" b="1" dirty="0" err="1"/>
              <a:t>java.util.Scanner</a:t>
            </a:r>
            <a:r>
              <a:rPr lang="en-IN" b="1" dirty="0"/>
              <a:t> </a:t>
            </a:r>
          </a:p>
          <a:p>
            <a:pPr algn="just"/>
            <a:r>
              <a:rPr lang="en-US" dirty="0"/>
              <a:t>Step 2: Create Scanner Class's Object</a:t>
            </a:r>
          </a:p>
          <a:p>
            <a:pPr marL="0" indent="0" algn="just">
              <a:buNone/>
            </a:pPr>
            <a:r>
              <a:rPr lang="en-US" dirty="0"/>
              <a:t>   After importing the Scanner class, you need to create its object to use    </a:t>
            </a:r>
          </a:p>
          <a:p>
            <a:pPr marL="0" indent="0" algn="just">
              <a:buNone/>
            </a:pPr>
            <a:r>
              <a:rPr lang="en-US" dirty="0"/>
              <a:t>   its methods. To create an object of the Scanner class, invoke </a:t>
            </a:r>
          </a:p>
          <a:p>
            <a:pPr marL="0" indent="0" algn="just">
              <a:buNone/>
            </a:pPr>
            <a:r>
              <a:rPr lang="en-US" dirty="0"/>
              <a:t>   Scanner() constructor.</a:t>
            </a:r>
          </a:p>
          <a:p>
            <a:pPr marL="0" indent="0" algn="just">
              <a:buNone/>
            </a:pPr>
            <a:r>
              <a:rPr lang="en-US" dirty="0"/>
              <a:t>   </a:t>
            </a:r>
            <a:r>
              <a:rPr lang="en-US" b="1" dirty="0"/>
              <a:t>Scanner obj = new Scanner(System.in);</a:t>
            </a:r>
          </a:p>
          <a:p>
            <a:pPr algn="just"/>
            <a:endParaRPr lang="en-IN" dirty="0"/>
          </a:p>
        </p:txBody>
      </p:sp>
    </p:spTree>
    <p:extLst>
      <p:ext uri="{BB962C8B-B14F-4D97-AF65-F5344CB8AC3E}">
        <p14:creationId xmlns:p14="http://schemas.microsoft.com/office/powerpoint/2010/main" val="1951341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CB8B-7493-4357-AC28-ACA6E22F277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CD553A-0D1E-44B8-B4F4-A51726820A1F}"/>
              </a:ext>
            </a:extLst>
          </p:cNvPr>
          <p:cNvSpPr>
            <a:spLocks noGrp="1"/>
          </p:cNvSpPr>
          <p:nvPr>
            <p:ph idx="1"/>
          </p:nvPr>
        </p:nvSpPr>
        <p:spPr/>
        <p:txBody>
          <a:bodyPr/>
          <a:lstStyle/>
          <a:p>
            <a:pPr algn="just"/>
            <a:r>
              <a:rPr lang="en-US" dirty="0"/>
              <a:t>Step 3: Take User Input</a:t>
            </a:r>
          </a:p>
          <a:p>
            <a:pPr marL="0" indent="0" algn="just">
              <a:buNone/>
            </a:pPr>
            <a:r>
              <a:rPr lang="en-US" dirty="0"/>
              <a:t>   Scanner class provides a variety of methods which are useful to take </a:t>
            </a:r>
          </a:p>
          <a:p>
            <a:pPr marL="0" indent="0" algn="just">
              <a:buNone/>
            </a:pPr>
            <a:r>
              <a:rPr lang="en-US" dirty="0"/>
              <a:t>   user input of different types. For example, if you want to input an  </a:t>
            </a:r>
          </a:p>
          <a:p>
            <a:pPr marL="0" indent="0" algn="just">
              <a:buNone/>
            </a:pPr>
            <a:r>
              <a:rPr lang="en-US" dirty="0"/>
              <a:t>   integer value, use </a:t>
            </a:r>
            <a:r>
              <a:rPr lang="en-US" dirty="0" err="1"/>
              <a:t>nextInt</a:t>
            </a:r>
            <a:r>
              <a:rPr lang="en-US" dirty="0"/>
              <a:t>() method.</a:t>
            </a:r>
          </a:p>
          <a:p>
            <a:pPr marL="0" indent="0" algn="just">
              <a:buNone/>
            </a:pPr>
            <a:r>
              <a:rPr lang="en-IN" b="1" dirty="0"/>
              <a:t>   int age = </a:t>
            </a:r>
            <a:r>
              <a:rPr lang="en-IN" b="1" dirty="0" err="1"/>
              <a:t>obj.nextInt</a:t>
            </a:r>
            <a:r>
              <a:rPr lang="en-IN" b="1" dirty="0"/>
              <a:t>();</a:t>
            </a:r>
          </a:p>
        </p:txBody>
      </p:sp>
    </p:spTree>
    <p:extLst>
      <p:ext uri="{BB962C8B-B14F-4D97-AF65-F5344CB8AC3E}">
        <p14:creationId xmlns:p14="http://schemas.microsoft.com/office/powerpoint/2010/main" val="3362121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522A1E-79AD-4CDB-B00F-10C3514CABC1}"/>
              </a:ext>
            </a:extLst>
          </p:cNvPr>
          <p:cNvSpPr>
            <a:spLocks noGrp="1"/>
          </p:cNvSpPr>
          <p:nvPr>
            <p:ph idx="1"/>
          </p:nvPr>
        </p:nvSpPr>
        <p:spPr>
          <a:xfrm>
            <a:off x="838200" y="696686"/>
            <a:ext cx="10515600" cy="5480277"/>
          </a:xfrm>
        </p:spPr>
        <p:txBody>
          <a:bodyPr>
            <a:normAutofit fontScale="55000" lnSpcReduction="20000"/>
          </a:bodyPr>
          <a:lstStyle/>
          <a:p>
            <a:pPr marL="0" indent="0">
              <a:buNone/>
            </a:pPr>
            <a:r>
              <a:rPr lang="en-IN" dirty="0"/>
              <a:t>import </a:t>
            </a:r>
            <a:r>
              <a:rPr lang="en-IN" dirty="0" err="1"/>
              <a:t>java.util.Scanner</a:t>
            </a:r>
            <a:r>
              <a:rPr lang="en-IN" dirty="0"/>
              <a:t>;</a:t>
            </a:r>
          </a:p>
          <a:p>
            <a:pPr marL="0" indent="0">
              <a:buNone/>
            </a:pPr>
            <a:r>
              <a:rPr lang="en-IN" dirty="0"/>
              <a:t>public class </a:t>
            </a:r>
            <a:r>
              <a:rPr lang="en-IN" dirty="0" err="1"/>
              <a:t>AddTwoNumbers</a:t>
            </a:r>
            <a:r>
              <a:rPr lang="en-IN" dirty="0"/>
              <a:t> </a:t>
            </a:r>
          </a:p>
          <a:p>
            <a:pPr marL="0" indent="0">
              <a:buNone/>
            </a:pPr>
            <a:r>
              <a:rPr lang="en-IN" dirty="0"/>
              <a:t>{</a:t>
            </a:r>
          </a:p>
          <a:p>
            <a:pPr marL="0" indent="0">
              <a:buNone/>
            </a:pPr>
            <a:r>
              <a:rPr lang="en-IN" dirty="0"/>
              <a:t>   public static void main(String[] </a:t>
            </a:r>
            <a:r>
              <a:rPr lang="en-IN" dirty="0" err="1"/>
              <a:t>args</a:t>
            </a:r>
            <a:r>
              <a:rPr lang="en-IN" dirty="0"/>
              <a:t>)</a:t>
            </a:r>
          </a:p>
          <a:p>
            <a:pPr marL="0" indent="0">
              <a:buNone/>
            </a:pPr>
            <a:r>
              <a:rPr lang="en-IN" dirty="0"/>
              <a:t>  {</a:t>
            </a:r>
          </a:p>
          <a:p>
            <a:pPr marL="0" indent="0">
              <a:buNone/>
            </a:pPr>
            <a:r>
              <a:rPr lang="en-IN" dirty="0"/>
              <a:t>      // Creating an object of Scanner class</a:t>
            </a:r>
          </a:p>
          <a:p>
            <a:pPr marL="0" indent="0">
              <a:buNone/>
            </a:pPr>
            <a:r>
              <a:rPr lang="en-IN" dirty="0"/>
              <a:t>      Scanner </a:t>
            </a:r>
            <a:r>
              <a:rPr lang="en-IN" dirty="0" err="1"/>
              <a:t>sc</a:t>
            </a:r>
            <a:r>
              <a:rPr lang="en-IN" dirty="0"/>
              <a:t> = new Scanner(System.in);</a:t>
            </a:r>
          </a:p>
          <a:p>
            <a:pPr marL="0" indent="0">
              <a:buNone/>
            </a:pPr>
            <a:r>
              <a:rPr lang="en-IN" dirty="0"/>
              <a:t>      // Reading two Integer numbers</a:t>
            </a:r>
          </a:p>
          <a:p>
            <a:pPr marL="0" indent="0">
              <a:buNone/>
            </a:pPr>
            <a:r>
              <a:rPr lang="en-IN" dirty="0"/>
              <a:t>      // using </a:t>
            </a:r>
            <a:r>
              <a:rPr lang="en-IN" dirty="0" err="1"/>
              <a:t>nextInt</a:t>
            </a:r>
            <a:r>
              <a:rPr lang="en-IN" dirty="0"/>
              <a:t>() method</a:t>
            </a:r>
          </a:p>
          <a:p>
            <a:pPr marL="0" indent="0">
              <a:buNone/>
            </a:pPr>
            <a:r>
              <a:rPr lang="en-IN" dirty="0"/>
              <a:t>      </a:t>
            </a:r>
            <a:r>
              <a:rPr lang="en-IN" dirty="0" err="1"/>
              <a:t>System.out.print</a:t>
            </a:r>
            <a:r>
              <a:rPr lang="en-IN" dirty="0"/>
              <a:t>("Enter the first number: ");</a:t>
            </a:r>
          </a:p>
          <a:p>
            <a:pPr marL="0" indent="0">
              <a:buNone/>
            </a:pPr>
            <a:r>
              <a:rPr lang="en-IN" dirty="0"/>
              <a:t>      int num1 = </a:t>
            </a:r>
            <a:r>
              <a:rPr lang="en-IN" dirty="0" err="1"/>
              <a:t>sc.nextInt</a:t>
            </a:r>
            <a:r>
              <a:rPr lang="en-IN" dirty="0"/>
              <a:t>();</a:t>
            </a:r>
          </a:p>
          <a:p>
            <a:pPr marL="0" indent="0">
              <a:buNone/>
            </a:pPr>
            <a:r>
              <a:rPr lang="en-IN" dirty="0"/>
              <a:t>      </a:t>
            </a:r>
            <a:r>
              <a:rPr lang="en-IN" dirty="0" err="1"/>
              <a:t>System.out.print</a:t>
            </a:r>
            <a:r>
              <a:rPr lang="en-IN" dirty="0"/>
              <a:t>("Enter the second number: ");</a:t>
            </a:r>
          </a:p>
          <a:p>
            <a:pPr marL="0" indent="0">
              <a:buNone/>
            </a:pPr>
            <a:r>
              <a:rPr lang="en-IN" dirty="0"/>
              <a:t>      int num2 = </a:t>
            </a:r>
            <a:r>
              <a:rPr lang="en-IN" dirty="0" err="1"/>
              <a:t>sc.nextInt</a:t>
            </a:r>
            <a:r>
              <a:rPr lang="en-IN" dirty="0"/>
              <a:t>();</a:t>
            </a:r>
          </a:p>
          <a:p>
            <a:pPr marL="0" indent="0">
              <a:buNone/>
            </a:pPr>
            <a:r>
              <a:rPr lang="en-IN" dirty="0"/>
              <a:t>      // Calculating the sum</a:t>
            </a:r>
          </a:p>
          <a:p>
            <a:pPr marL="0" indent="0">
              <a:buNone/>
            </a:pPr>
            <a:r>
              <a:rPr lang="en-IN" dirty="0"/>
              <a:t>      int sum = num1 + num2;</a:t>
            </a:r>
          </a:p>
          <a:p>
            <a:pPr marL="0" indent="0">
              <a:buNone/>
            </a:pPr>
            <a:r>
              <a:rPr lang="en-IN" dirty="0"/>
              <a:t>      // Printing the </a:t>
            </a:r>
            <a:r>
              <a:rPr lang="en-IN" dirty="0" err="1"/>
              <a:t>su</a:t>
            </a:r>
            <a:endParaRPr lang="en-IN" dirty="0"/>
          </a:p>
          <a:p>
            <a:pPr marL="0" indent="0">
              <a:buNone/>
            </a:pPr>
            <a:r>
              <a:rPr lang="en-IN" dirty="0"/>
              <a:t>      </a:t>
            </a:r>
            <a:r>
              <a:rPr lang="en-IN" dirty="0" err="1"/>
              <a:t>System.out.println</a:t>
            </a:r>
            <a:r>
              <a:rPr lang="en-IN" dirty="0"/>
              <a:t>("The sum of the two numbers is: " + sum);</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3452679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66094-385D-4A2A-91BB-5AF468EAD763}"/>
              </a:ext>
            </a:extLst>
          </p:cNvPr>
          <p:cNvSpPr>
            <a:spLocks noGrp="1"/>
          </p:cNvSpPr>
          <p:nvPr>
            <p:ph type="title"/>
          </p:nvPr>
        </p:nvSpPr>
        <p:spPr>
          <a:xfrm>
            <a:off x="838200" y="365125"/>
            <a:ext cx="10515600" cy="453481"/>
          </a:xfrm>
        </p:spPr>
        <p:txBody>
          <a:bodyPr>
            <a:normAutofit fontScale="90000"/>
          </a:bodyPr>
          <a:lstStyle/>
          <a:p>
            <a:endParaRPr lang="en-IN"/>
          </a:p>
        </p:txBody>
      </p:sp>
      <p:pic>
        <p:nvPicPr>
          <p:cNvPr id="4" name="Content Placeholder 3">
            <a:extLst>
              <a:ext uri="{FF2B5EF4-FFF2-40B4-BE49-F238E27FC236}">
                <a16:creationId xmlns:a16="http://schemas.microsoft.com/office/drawing/2014/main" id="{722062FB-ABC1-41A1-B3E3-AEE346020FCD}"/>
              </a:ext>
            </a:extLst>
          </p:cNvPr>
          <p:cNvPicPr>
            <a:picLocks noGrp="1" noChangeAspect="1"/>
          </p:cNvPicPr>
          <p:nvPr>
            <p:ph idx="1"/>
          </p:nvPr>
        </p:nvPicPr>
        <p:blipFill>
          <a:blip r:embed="rId2"/>
          <a:stretch>
            <a:fillRect/>
          </a:stretch>
        </p:blipFill>
        <p:spPr>
          <a:xfrm>
            <a:off x="2055223" y="1088571"/>
            <a:ext cx="8168640" cy="5088392"/>
          </a:xfrm>
          <a:prstGeom prst="rect">
            <a:avLst/>
          </a:prstGeom>
        </p:spPr>
      </p:pic>
    </p:spTree>
    <p:extLst>
      <p:ext uri="{BB962C8B-B14F-4D97-AF65-F5344CB8AC3E}">
        <p14:creationId xmlns:p14="http://schemas.microsoft.com/office/powerpoint/2010/main" val="2170380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D3C3F-E0DE-4FFA-B1BD-6CC4B73F84B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C8AF18-4288-40E7-AD03-040EE8FB212F}"/>
              </a:ext>
            </a:extLst>
          </p:cNvPr>
          <p:cNvSpPr>
            <a:spLocks noGrp="1"/>
          </p:cNvSpPr>
          <p:nvPr>
            <p:ph idx="1"/>
          </p:nvPr>
        </p:nvSpPr>
        <p:spPr/>
        <p:txBody>
          <a:bodyPr/>
          <a:lstStyle/>
          <a:p>
            <a:pPr algn="just"/>
            <a:r>
              <a:rPr lang="en-US" dirty="0"/>
              <a:t>Float Input from the User</a:t>
            </a:r>
          </a:p>
          <a:p>
            <a:pPr algn="just"/>
            <a:r>
              <a:rPr lang="en-US" dirty="0"/>
              <a:t>The </a:t>
            </a:r>
            <a:r>
              <a:rPr lang="en-US" dirty="0" err="1"/>
              <a:t>nextFloat</a:t>
            </a:r>
            <a:r>
              <a:rPr lang="en-US" dirty="0"/>
              <a:t>() method is used to take input of a float value from the user.</a:t>
            </a:r>
          </a:p>
          <a:p>
            <a:pPr algn="just"/>
            <a:r>
              <a:rPr lang="en-US" dirty="0"/>
              <a:t>String Input from the User</a:t>
            </a:r>
          </a:p>
          <a:p>
            <a:pPr algn="just"/>
            <a:r>
              <a:rPr lang="en-US" dirty="0"/>
              <a:t>The </a:t>
            </a:r>
            <a:r>
              <a:rPr lang="en-US" dirty="0" err="1"/>
              <a:t>nextLine</a:t>
            </a:r>
            <a:r>
              <a:rPr lang="en-US" dirty="0"/>
              <a:t>() method is used to take input of a string value from the user.</a:t>
            </a:r>
            <a:endParaRPr lang="en-IN" dirty="0"/>
          </a:p>
        </p:txBody>
      </p:sp>
    </p:spTree>
    <p:extLst>
      <p:ext uri="{BB962C8B-B14F-4D97-AF65-F5344CB8AC3E}">
        <p14:creationId xmlns:p14="http://schemas.microsoft.com/office/powerpoint/2010/main" val="40868549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DE232-446C-4AB4-B32B-F1C8D8A64A72}"/>
              </a:ext>
            </a:extLst>
          </p:cNvPr>
          <p:cNvSpPr>
            <a:spLocks noGrp="1"/>
          </p:cNvSpPr>
          <p:nvPr>
            <p:ph type="title"/>
          </p:nvPr>
        </p:nvSpPr>
        <p:spPr/>
        <p:txBody>
          <a:bodyPr/>
          <a:lstStyle/>
          <a:p>
            <a:r>
              <a:rPr lang="en-IN" dirty="0"/>
              <a:t>Java Loops</a:t>
            </a:r>
            <a:br>
              <a:rPr lang="en-IN" dirty="0"/>
            </a:br>
            <a:endParaRPr lang="en-IN" dirty="0"/>
          </a:p>
        </p:txBody>
      </p:sp>
      <p:sp>
        <p:nvSpPr>
          <p:cNvPr id="6" name="Content Placeholder 5">
            <a:extLst>
              <a:ext uri="{FF2B5EF4-FFF2-40B4-BE49-F238E27FC236}">
                <a16:creationId xmlns:a16="http://schemas.microsoft.com/office/drawing/2014/main" id="{56B24BBD-55DC-4B37-9B2B-A9B09D11E776}"/>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927E870B-9051-42D8-817A-944B949E7572}"/>
              </a:ext>
            </a:extLst>
          </p:cNvPr>
          <p:cNvPicPr>
            <a:picLocks noChangeAspect="1"/>
          </p:cNvPicPr>
          <p:nvPr/>
        </p:nvPicPr>
        <p:blipFill>
          <a:blip r:embed="rId2"/>
          <a:stretch>
            <a:fillRect/>
          </a:stretch>
        </p:blipFill>
        <p:spPr>
          <a:xfrm>
            <a:off x="737439" y="1618997"/>
            <a:ext cx="10717121" cy="3620005"/>
          </a:xfrm>
          <a:prstGeom prst="rect">
            <a:avLst/>
          </a:prstGeom>
        </p:spPr>
      </p:pic>
    </p:spTree>
    <p:extLst>
      <p:ext uri="{BB962C8B-B14F-4D97-AF65-F5344CB8AC3E}">
        <p14:creationId xmlns:p14="http://schemas.microsoft.com/office/powerpoint/2010/main" val="1145513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8A0B7-64C1-443D-850B-55F6670B42CE}"/>
              </a:ext>
            </a:extLst>
          </p:cNvPr>
          <p:cNvSpPr>
            <a:spLocks noGrp="1"/>
          </p:cNvSpPr>
          <p:nvPr>
            <p:ph type="title"/>
          </p:nvPr>
        </p:nvSpPr>
        <p:spPr/>
        <p:txBody>
          <a:bodyPr/>
          <a:lstStyle/>
          <a:p>
            <a:r>
              <a:rPr lang="en-US" dirty="0"/>
              <a:t>for loop</a:t>
            </a:r>
            <a:endParaRPr lang="en-IN" dirty="0"/>
          </a:p>
        </p:txBody>
      </p:sp>
      <p:sp>
        <p:nvSpPr>
          <p:cNvPr id="3" name="Content Placeholder 2">
            <a:extLst>
              <a:ext uri="{FF2B5EF4-FFF2-40B4-BE49-F238E27FC236}">
                <a16:creationId xmlns:a16="http://schemas.microsoft.com/office/drawing/2014/main" id="{8D3E2730-38AB-4B59-80BA-E2329CBE1ECE}"/>
              </a:ext>
            </a:extLst>
          </p:cNvPr>
          <p:cNvSpPr>
            <a:spLocks noGrp="1"/>
          </p:cNvSpPr>
          <p:nvPr>
            <p:ph idx="1"/>
          </p:nvPr>
        </p:nvSpPr>
        <p:spPr/>
        <p:txBody>
          <a:bodyPr>
            <a:normAutofit fontScale="92500" lnSpcReduction="20000"/>
          </a:bodyPr>
          <a:lstStyle/>
          <a:p>
            <a:pPr marL="0" indent="0">
              <a:buNone/>
            </a:pPr>
            <a:r>
              <a:rPr lang="en-US" dirty="0"/>
              <a:t>for (</a:t>
            </a:r>
            <a:r>
              <a:rPr lang="en-US" dirty="0" err="1"/>
              <a:t>initialExpression</a:t>
            </a:r>
            <a:r>
              <a:rPr lang="en-US" dirty="0"/>
              <a:t>; </a:t>
            </a:r>
            <a:r>
              <a:rPr lang="en-US" dirty="0" err="1"/>
              <a:t>testExpression</a:t>
            </a:r>
            <a:r>
              <a:rPr lang="en-US" dirty="0"/>
              <a:t>; </a:t>
            </a:r>
            <a:r>
              <a:rPr lang="en-US" dirty="0" err="1"/>
              <a:t>updateExpression</a:t>
            </a:r>
            <a:r>
              <a:rPr lang="en-US" dirty="0"/>
              <a:t>) </a:t>
            </a:r>
          </a:p>
          <a:p>
            <a:pPr marL="0" indent="0">
              <a:buNone/>
            </a:pPr>
            <a:r>
              <a:rPr lang="en-US" dirty="0"/>
              <a:t>{</a:t>
            </a:r>
          </a:p>
          <a:p>
            <a:pPr marL="0" indent="0">
              <a:buNone/>
            </a:pPr>
            <a:r>
              <a:rPr lang="en-US" dirty="0"/>
              <a:t>    // body of the loop</a:t>
            </a:r>
          </a:p>
          <a:p>
            <a:pPr marL="0" indent="0">
              <a:buNone/>
            </a:pPr>
            <a:r>
              <a:rPr lang="en-US" dirty="0"/>
              <a:t>}</a:t>
            </a:r>
          </a:p>
          <a:p>
            <a:pPr marL="0" indent="0">
              <a:buNone/>
            </a:pPr>
            <a:r>
              <a:rPr lang="en-US" dirty="0"/>
              <a:t>The </a:t>
            </a:r>
            <a:r>
              <a:rPr lang="en-US" dirty="0" err="1"/>
              <a:t>initialExpression</a:t>
            </a:r>
            <a:r>
              <a:rPr lang="en-US" dirty="0"/>
              <a:t> initializes and/or declares variables and executes only once.</a:t>
            </a:r>
          </a:p>
          <a:p>
            <a:pPr marL="0" indent="0">
              <a:buNone/>
            </a:pPr>
            <a:r>
              <a:rPr lang="en-US" dirty="0"/>
              <a:t>The condition is evaluated. If the condition is true, the body of the for loop is executed.</a:t>
            </a:r>
          </a:p>
          <a:p>
            <a:pPr marL="0" indent="0">
              <a:buNone/>
            </a:pPr>
            <a:r>
              <a:rPr lang="en-US" dirty="0"/>
              <a:t>The </a:t>
            </a:r>
            <a:r>
              <a:rPr lang="en-US" dirty="0" err="1"/>
              <a:t>updateExpression</a:t>
            </a:r>
            <a:r>
              <a:rPr lang="en-US" dirty="0"/>
              <a:t> updates the value of </a:t>
            </a:r>
            <a:r>
              <a:rPr lang="en-US" dirty="0" err="1"/>
              <a:t>initialExpression</a:t>
            </a:r>
            <a:r>
              <a:rPr lang="en-US" dirty="0"/>
              <a:t>.</a:t>
            </a:r>
          </a:p>
          <a:p>
            <a:pPr marL="0" indent="0">
              <a:buNone/>
            </a:pPr>
            <a:r>
              <a:rPr lang="en-US" dirty="0"/>
              <a:t>The condition is evaluated again. The process continues until the condition is false.</a:t>
            </a:r>
            <a:endParaRPr lang="en-IN" dirty="0"/>
          </a:p>
        </p:txBody>
      </p:sp>
    </p:spTree>
    <p:extLst>
      <p:ext uri="{BB962C8B-B14F-4D97-AF65-F5344CB8AC3E}">
        <p14:creationId xmlns:p14="http://schemas.microsoft.com/office/powerpoint/2010/main" val="20515455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3542B-466A-46FF-A4B9-AB3D6688A4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F4FAC4-F46A-476E-9AC7-CB0C2AADA694}"/>
              </a:ext>
            </a:extLst>
          </p:cNvPr>
          <p:cNvSpPr>
            <a:spLocks noGrp="1"/>
          </p:cNvSpPr>
          <p:nvPr>
            <p:ph idx="1"/>
          </p:nvPr>
        </p:nvSpPr>
        <p:spPr/>
        <p:txBody>
          <a:bodyPr>
            <a:normAutofit fontScale="62500" lnSpcReduction="20000"/>
          </a:bodyPr>
          <a:lstStyle/>
          <a:p>
            <a:pPr marL="0" indent="0">
              <a:buNone/>
            </a:pPr>
            <a:r>
              <a:rPr lang="en-IN" dirty="0"/>
              <a:t>// Program to print a text 5 times</a:t>
            </a:r>
          </a:p>
          <a:p>
            <a:pPr marL="0" indent="0">
              <a:buNone/>
            </a:pPr>
            <a:r>
              <a:rPr lang="en-IN" dirty="0"/>
              <a:t>class Main</a:t>
            </a:r>
          </a:p>
          <a:p>
            <a:pPr marL="0" indent="0">
              <a:buNone/>
            </a:pPr>
            <a:r>
              <a:rPr lang="en-IN" dirty="0"/>
              <a:t>{</a:t>
            </a:r>
          </a:p>
          <a:p>
            <a:pPr marL="0" indent="0">
              <a:buNone/>
            </a:pPr>
            <a:r>
              <a:rPr lang="en-IN" dirty="0"/>
              <a:t>  public static void main(String[] </a:t>
            </a:r>
            <a:r>
              <a:rPr lang="en-IN" dirty="0" err="1"/>
              <a:t>args</a:t>
            </a:r>
            <a:r>
              <a:rPr lang="en-IN" dirty="0"/>
              <a:t>)</a:t>
            </a:r>
          </a:p>
          <a:p>
            <a:pPr marL="0" indent="0">
              <a:buNone/>
            </a:pPr>
            <a:r>
              <a:rPr lang="en-IN" dirty="0"/>
              <a:t>  {</a:t>
            </a:r>
          </a:p>
          <a:p>
            <a:pPr marL="0" indent="0">
              <a:buNone/>
            </a:pPr>
            <a:r>
              <a:rPr lang="en-IN" dirty="0"/>
              <a:t>    int n = 5;</a:t>
            </a:r>
          </a:p>
          <a:p>
            <a:pPr marL="0" indent="0">
              <a:buNone/>
            </a:pPr>
            <a:r>
              <a:rPr lang="en-IN" dirty="0"/>
              <a:t>    // for loop  </a:t>
            </a:r>
          </a:p>
          <a:p>
            <a:pPr marL="0" indent="0">
              <a:buNone/>
            </a:pPr>
            <a:r>
              <a:rPr lang="en-IN" dirty="0"/>
              <a:t>    for (int </a:t>
            </a:r>
            <a:r>
              <a:rPr lang="en-IN" dirty="0" err="1"/>
              <a:t>i</a:t>
            </a:r>
            <a:r>
              <a:rPr lang="en-IN" dirty="0"/>
              <a:t> = 1; </a:t>
            </a:r>
            <a:r>
              <a:rPr lang="en-IN" dirty="0" err="1"/>
              <a:t>i</a:t>
            </a:r>
            <a:r>
              <a:rPr lang="en-IN" dirty="0"/>
              <a:t> &lt;= n; ++</a:t>
            </a:r>
            <a:r>
              <a:rPr lang="en-IN" dirty="0" err="1"/>
              <a:t>i</a:t>
            </a:r>
            <a:r>
              <a:rPr lang="en-IN" dirty="0"/>
              <a:t>)</a:t>
            </a:r>
          </a:p>
          <a:p>
            <a:pPr marL="0" indent="0">
              <a:buNone/>
            </a:pPr>
            <a:r>
              <a:rPr lang="en-IN" dirty="0"/>
              <a:t>    {</a:t>
            </a:r>
          </a:p>
          <a:p>
            <a:pPr marL="0" indent="0">
              <a:buNone/>
            </a:pPr>
            <a:r>
              <a:rPr lang="en-IN" dirty="0"/>
              <a:t>      </a:t>
            </a:r>
            <a:r>
              <a:rPr lang="en-IN" dirty="0" err="1"/>
              <a:t>System.out.println</a:t>
            </a:r>
            <a:r>
              <a:rPr lang="en-IN" dirty="0"/>
              <a:t>("Java is fun");</a:t>
            </a:r>
          </a:p>
          <a:p>
            <a:pPr marL="0" indent="0">
              <a:buNone/>
            </a:pPr>
            <a:r>
              <a:rPr lang="en-IN" dirty="0"/>
              <a:t>    }//End of for</a:t>
            </a:r>
          </a:p>
          <a:p>
            <a:pPr marL="0" indent="0">
              <a:buNone/>
            </a:pPr>
            <a:r>
              <a:rPr lang="en-IN" dirty="0"/>
              <a:t>  } //End of main</a:t>
            </a:r>
          </a:p>
          <a:p>
            <a:pPr marL="0" indent="0">
              <a:buNone/>
            </a:pPr>
            <a:r>
              <a:rPr lang="en-IN" dirty="0"/>
              <a:t>} //End of Main</a:t>
            </a:r>
          </a:p>
        </p:txBody>
      </p:sp>
    </p:spTree>
    <p:extLst>
      <p:ext uri="{BB962C8B-B14F-4D97-AF65-F5344CB8AC3E}">
        <p14:creationId xmlns:p14="http://schemas.microsoft.com/office/powerpoint/2010/main" val="262652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4DCC7-7C4D-4A6B-82A6-D9DD78C5B085}"/>
              </a:ext>
            </a:extLst>
          </p:cNvPr>
          <p:cNvSpPr>
            <a:spLocks noGrp="1"/>
          </p:cNvSpPr>
          <p:nvPr>
            <p:ph type="title"/>
          </p:nvPr>
        </p:nvSpPr>
        <p:spPr/>
        <p:txBody>
          <a:bodyPr/>
          <a:lstStyle/>
          <a:p>
            <a:r>
              <a:rPr lang="en-US" dirty="0"/>
              <a:t>Loop Control Statements</a:t>
            </a:r>
            <a:br>
              <a:rPr lang="en-US" dirty="0"/>
            </a:br>
            <a:endParaRPr lang="en-IN" dirty="0"/>
          </a:p>
        </p:txBody>
      </p:sp>
      <p:sp>
        <p:nvSpPr>
          <p:cNvPr id="3" name="Content Placeholder 2">
            <a:extLst>
              <a:ext uri="{FF2B5EF4-FFF2-40B4-BE49-F238E27FC236}">
                <a16:creationId xmlns:a16="http://schemas.microsoft.com/office/drawing/2014/main" id="{47F18E04-2602-4691-9E47-4D4CAC9D9D33}"/>
              </a:ext>
            </a:extLst>
          </p:cNvPr>
          <p:cNvSpPr>
            <a:spLocks noGrp="1"/>
          </p:cNvSpPr>
          <p:nvPr>
            <p:ph idx="1"/>
          </p:nvPr>
        </p:nvSpPr>
        <p:spPr/>
        <p:txBody>
          <a:bodyPr/>
          <a:lstStyle/>
          <a:p>
            <a:r>
              <a:rPr lang="en-US" dirty="0"/>
              <a:t>Loop control statements change execution from its normal sequence. When execution leaves a scope, all automatic objects that were created in that scope are destroyed.</a:t>
            </a:r>
          </a:p>
          <a:p>
            <a:endParaRPr lang="en-IN" dirty="0"/>
          </a:p>
        </p:txBody>
      </p:sp>
      <p:pic>
        <p:nvPicPr>
          <p:cNvPr id="4" name="Picture 3">
            <a:extLst>
              <a:ext uri="{FF2B5EF4-FFF2-40B4-BE49-F238E27FC236}">
                <a16:creationId xmlns:a16="http://schemas.microsoft.com/office/drawing/2014/main" id="{468BC1E4-3B30-476D-A064-4B4C96C7543F}"/>
              </a:ext>
            </a:extLst>
          </p:cNvPr>
          <p:cNvPicPr>
            <a:picLocks noChangeAspect="1"/>
          </p:cNvPicPr>
          <p:nvPr/>
        </p:nvPicPr>
        <p:blipFill>
          <a:blip r:embed="rId2"/>
          <a:stretch>
            <a:fillRect/>
          </a:stretch>
        </p:blipFill>
        <p:spPr>
          <a:xfrm>
            <a:off x="1271452" y="3218618"/>
            <a:ext cx="9614262" cy="2502913"/>
          </a:xfrm>
          <a:prstGeom prst="rect">
            <a:avLst/>
          </a:prstGeom>
        </p:spPr>
      </p:pic>
    </p:spTree>
    <p:extLst>
      <p:ext uri="{BB962C8B-B14F-4D97-AF65-F5344CB8AC3E}">
        <p14:creationId xmlns:p14="http://schemas.microsoft.com/office/powerpoint/2010/main" val="806395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12BE-862E-45EB-B600-1F0D88DD65D8}"/>
              </a:ext>
            </a:extLst>
          </p:cNvPr>
          <p:cNvSpPr>
            <a:spLocks noGrp="1"/>
          </p:cNvSpPr>
          <p:nvPr>
            <p:ph type="title"/>
          </p:nvPr>
        </p:nvSpPr>
        <p:spPr>
          <a:xfrm>
            <a:off x="838200" y="365125"/>
            <a:ext cx="10515600" cy="766989"/>
          </a:xfrm>
        </p:spPr>
        <p:txBody>
          <a:bodyPr>
            <a:normAutofit/>
          </a:bodyPr>
          <a:lstStyle/>
          <a:p>
            <a:r>
              <a:rPr lang="en-IN" b="1" dirty="0"/>
              <a:t>Java - Decision Making</a:t>
            </a:r>
            <a:endParaRPr lang="en-IN" dirty="0"/>
          </a:p>
        </p:txBody>
      </p:sp>
      <p:sp>
        <p:nvSpPr>
          <p:cNvPr id="3" name="Content Placeholder 2">
            <a:extLst>
              <a:ext uri="{FF2B5EF4-FFF2-40B4-BE49-F238E27FC236}">
                <a16:creationId xmlns:a16="http://schemas.microsoft.com/office/drawing/2014/main" id="{708C0919-25CE-4AE9-9BFD-C2C03F2E6FAE}"/>
              </a:ext>
            </a:extLst>
          </p:cNvPr>
          <p:cNvSpPr>
            <a:spLocks noGrp="1"/>
          </p:cNvSpPr>
          <p:nvPr>
            <p:ph idx="1"/>
          </p:nvPr>
        </p:nvSpPr>
        <p:spPr>
          <a:xfrm>
            <a:off x="838200" y="1280160"/>
            <a:ext cx="10515600" cy="4896803"/>
          </a:xfrm>
        </p:spPr>
        <p:txBody>
          <a:bodyPr/>
          <a:lstStyle/>
          <a:p>
            <a:pPr algn="just"/>
            <a:r>
              <a:rPr lang="en-US" dirty="0">
                <a:solidFill>
                  <a:srgbClr val="000000"/>
                </a:solidFill>
                <a:latin typeface="Verdana" panose="020B0604030504040204" pitchFamily="34" charset="0"/>
              </a:rPr>
              <a:t>Decision making structures have one or more conditions to be evaluated or tested by the program, along with a statement or statements that are to be executed if the condition is determined to be true, and optionally, other statements to be executed if the condition is determined to be false.</a:t>
            </a:r>
          </a:p>
          <a:p>
            <a:pPr algn="just"/>
            <a:endParaRPr lang="en-IN" dirty="0"/>
          </a:p>
        </p:txBody>
      </p:sp>
    </p:spTree>
    <p:extLst>
      <p:ext uri="{BB962C8B-B14F-4D97-AF65-F5344CB8AC3E}">
        <p14:creationId xmlns:p14="http://schemas.microsoft.com/office/powerpoint/2010/main" val="620638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ECD6-C9EB-49E5-AF2B-4EBE3C2F015E}"/>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02F868DF-5C75-46F2-80E7-27BB4601AA22}"/>
              </a:ext>
            </a:extLst>
          </p:cNvPr>
          <p:cNvPicPr>
            <a:picLocks noGrp="1" noChangeAspect="1"/>
          </p:cNvPicPr>
          <p:nvPr>
            <p:ph idx="1"/>
          </p:nvPr>
        </p:nvPicPr>
        <p:blipFill>
          <a:blip r:embed="rId2"/>
          <a:stretch>
            <a:fillRect/>
          </a:stretch>
        </p:blipFill>
        <p:spPr>
          <a:xfrm>
            <a:off x="1618625" y="2168435"/>
            <a:ext cx="8954750" cy="3404704"/>
          </a:xfrm>
          <a:prstGeom prst="rect">
            <a:avLst/>
          </a:prstGeom>
        </p:spPr>
      </p:pic>
    </p:spTree>
    <p:extLst>
      <p:ext uri="{BB962C8B-B14F-4D97-AF65-F5344CB8AC3E}">
        <p14:creationId xmlns:p14="http://schemas.microsoft.com/office/powerpoint/2010/main" val="4277215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126D7-DCCC-4536-92AF-6C68DCB5375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203B91-8122-4F81-B001-73A3DD71D0EF}"/>
              </a:ext>
            </a:extLst>
          </p:cNvPr>
          <p:cNvSpPr>
            <a:spLocks noGrp="1"/>
          </p:cNvSpPr>
          <p:nvPr>
            <p:ph idx="1"/>
          </p:nvPr>
        </p:nvSpPr>
        <p:spPr/>
        <p:txBody>
          <a:bodyPr/>
          <a:lstStyle/>
          <a:p>
            <a:r>
              <a:rPr lang="en-US" dirty="0"/>
              <a:t>The conditional operator ? : can be used to replace if...else statements.</a:t>
            </a:r>
            <a:endParaRPr lang="en-IN" dirty="0"/>
          </a:p>
        </p:txBody>
      </p:sp>
    </p:spTree>
    <p:extLst>
      <p:ext uri="{BB962C8B-B14F-4D97-AF65-F5344CB8AC3E}">
        <p14:creationId xmlns:p14="http://schemas.microsoft.com/office/powerpoint/2010/main" val="30058200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782C7-0960-4434-B45D-1B185A61264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817EE04-23A1-488B-9D4E-828E2E39151F}"/>
              </a:ext>
            </a:extLst>
          </p:cNvPr>
          <p:cNvSpPr>
            <a:spLocks noGrp="1"/>
          </p:cNvSpPr>
          <p:nvPr>
            <p:ph idx="1"/>
          </p:nvPr>
        </p:nvSpPr>
        <p:spPr/>
        <p:txBody>
          <a:bodyPr>
            <a:normAutofit fontScale="77500" lnSpcReduction="20000"/>
          </a:bodyPr>
          <a:lstStyle/>
          <a:p>
            <a:pPr marL="0" indent="0">
              <a:buNone/>
            </a:pPr>
            <a:r>
              <a:rPr lang="en-IN" dirty="0"/>
              <a:t>public class Test {</a:t>
            </a:r>
          </a:p>
          <a:p>
            <a:endParaRPr lang="en-IN" dirty="0"/>
          </a:p>
          <a:p>
            <a:pPr marL="0" indent="0">
              <a:buNone/>
            </a:pPr>
            <a:r>
              <a:rPr lang="en-IN" dirty="0"/>
              <a:t>   public static void main(String </a:t>
            </a:r>
            <a:r>
              <a:rPr lang="en-IN" dirty="0" err="1"/>
              <a:t>args</a:t>
            </a:r>
            <a:r>
              <a:rPr lang="en-IN" dirty="0"/>
              <a:t>[]) {</a:t>
            </a:r>
          </a:p>
          <a:p>
            <a:pPr marL="0" indent="0">
              <a:buNone/>
            </a:pPr>
            <a:r>
              <a:rPr lang="en-IN" dirty="0"/>
              <a:t>      int x = 30;</a:t>
            </a:r>
          </a:p>
          <a:p>
            <a:endParaRPr lang="en-IN" dirty="0"/>
          </a:p>
          <a:p>
            <a:pPr marL="0" indent="0">
              <a:buNone/>
            </a:pPr>
            <a:r>
              <a:rPr lang="en-IN" dirty="0"/>
              <a:t>      if( x &lt; 20 ) {</a:t>
            </a:r>
          </a:p>
          <a:p>
            <a:pPr marL="0" indent="0">
              <a:buNone/>
            </a:pPr>
            <a:r>
              <a:rPr lang="en-IN" dirty="0"/>
              <a:t>         </a:t>
            </a:r>
            <a:r>
              <a:rPr lang="en-IN" dirty="0" err="1"/>
              <a:t>System.out.print</a:t>
            </a:r>
            <a:r>
              <a:rPr lang="en-IN" dirty="0"/>
              <a:t>("This is if statement");</a:t>
            </a:r>
          </a:p>
          <a:p>
            <a:pPr marL="0" indent="0">
              <a:buNone/>
            </a:pPr>
            <a:r>
              <a:rPr lang="en-IN" dirty="0"/>
              <a:t>      }else {</a:t>
            </a:r>
          </a:p>
          <a:p>
            <a:pPr marL="0" indent="0">
              <a:buNone/>
            </a:pPr>
            <a:r>
              <a:rPr lang="en-IN" dirty="0"/>
              <a:t>         </a:t>
            </a:r>
            <a:r>
              <a:rPr lang="en-IN" dirty="0" err="1"/>
              <a:t>System.out.print</a:t>
            </a:r>
            <a:r>
              <a:rPr lang="en-IN" dirty="0"/>
              <a:t>("This is else statement");</a:t>
            </a:r>
          </a:p>
          <a:p>
            <a:pPr marL="0" indent="0">
              <a:buNone/>
            </a:pPr>
            <a:r>
              <a:rPr lang="en-IN" dirty="0"/>
              <a:t>      }</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199561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38192B-F6A9-4A2C-8D6D-15C8B24672F6}"/>
              </a:ext>
            </a:extLst>
          </p:cNvPr>
          <p:cNvSpPr>
            <a:spLocks noGrp="1"/>
          </p:cNvSpPr>
          <p:nvPr>
            <p:ph idx="1"/>
          </p:nvPr>
        </p:nvSpPr>
        <p:spPr>
          <a:xfrm>
            <a:off x="838200" y="722811"/>
            <a:ext cx="10515600" cy="5454152"/>
          </a:xfrm>
        </p:spPr>
        <p:txBody>
          <a:bodyPr>
            <a:normAutofit fontScale="55000" lnSpcReduction="20000"/>
          </a:bodyPr>
          <a:lstStyle/>
          <a:p>
            <a:pPr marL="0" indent="0">
              <a:buNone/>
            </a:pPr>
            <a:r>
              <a:rPr lang="en-IN" dirty="0"/>
              <a:t>public class Test {</a:t>
            </a:r>
          </a:p>
          <a:p>
            <a:pPr marL="0" indent="0">
              <a:buNone/>
            </a:pPr>
            <a:r>
              <a:rPr lang="en-IN" dirty="0"/>
              <a:t>    public static void main(String[] </a:t>
            </a:r>
            <a:r>
              <a:rPr lang="en-IN" dirty="0" err="1"/>
              <a:t>args</a:t>
            </a:r>
            <a:r>
              <a:rPr lang="en-IN" dirty="0"/>
              <a:t>) {</a:t>
            </a:r>
          </a:p>
          <a:p>
            <a:pPr marL="0" indent="0">
              <a:buNone/>
            </a:pPr>
            <a:r>
              <a:rPr lang="en-IN" dirty="0"/>
              <a:t>        int x = 10, y = 20, z = 30;</a:t>
            </a:r>
          </a:p>
          <a:p>
            <a:pPr marL="0" indent="0">
              <a:buNone/>
            </a:pPr>
            <a:r>
              <a:rPr lang="en-IN" dirty="0"/>
              <a:t>        if(x &gt;= y) {</a:t>
            </a:r>
          </a:p>
          <a:p>
            <a:pPr marL="0" indent="0">
              <a:buNone/>
            </a:pPr>
            <a:r>
              <a:rPr lang="en-IN" dirty="0"/>
              <a:t>            if(x &gt;= z)</a:t>
            </a:r>
          </a:p>
          <a:p>
            <a:pPr marL="0" indent="0">
              <a:buNone/>
            </a:pPr>
            <a:r>
              <a:rPr lang="en-IN" dirty="0"/>
              <a:t>                </a:t>
            </a:r>
            <a:r>
              <a:rPr lang="en-IN" dirty="0" err="1"/>
              <a:t>System.out.println</a:t>
            </a:r>
            <a:r>
              <a:rPr lang="en-IN" dirty="0"/>
              <a:t>(x + " is the largest.");</a:t>
            </a:r>
          </a:p>
          <a:p>
            <a:pPr marL="0" indent="0">
              <a:buNone/>
            </a:pPr>
            <a:r>
              <a:rPr lang="en-IN" dirty="0"/>
              <a:t>            else</a:t>
            </a:r>
          </a:p>
          <a:p>
            <a:pPr marL="0" indent="0">
              <a:buNone/>
            </a:pPr>
            <a:r>
              <a:rPr lang="en-IN" dirty="0"/>
              <a:t>                </a:t>
            </a:r>
            <a:r>
              <a:rPr lang="en-IN" dirty="0" err="1"/>
              <a:t>System.out.println</a:t>
            </a:r>
            <a:r>
              <a:rPr lang="en-IN" dirty="0"/>
              <a:t>(z + " is the largest.");</a:t>
            </a:r>
          </a:p>
          <a:p>
            <a:pPr marL="0" indent="0">
              <a:buNone/>
            </a:pPr>
            <a:r>
              <a:rPr lang="en-IN" dirty="0"/>
              <a:t>        } </a:t>
            </a:r>
          </a:p>
          <a:p>
            <a:pPr marL="0" indent="0">
              <a:buNone/>
            </a:pPr>
            <a:r>
              <a:rPr lang="en-IN" dirty="0"/>
              <a:t>       else </a:t>
            </a:r>
          </a:p>
          <a:p>
            <a:pPr marL="0" indent="0">
              <a:buNone/>
            </a:pPr>
            <a:r>
              <a:rPr lang="en-IN" dirty="0"/>
              <a:t>       {</a:t>
            </a:r>
          </a:p>
          <a:p>
            <a:pPr marL="0" indent="0">
              <a:buNone/>
            </a:pPr>
            <a:r>
              <a:rPr lang="en-IN" dirty="0"/>
              <a:t>            if(y &gt;= z)</a:t>
            </a:r>
          </a:p>
          <a:p>
            <a:pPr marL="0" indent="0">
              <a:buNone/>
            </a:pPr>
            <a:r>
              <a:rPr lang="en-IN" dirty="0"/>
              <a:t>                </a:t>
            </a:r>
            <a:r>
              <a:rPr lang="en-IN" dirty="0" err="1"/>
              <a:t>System.out.println</a:t>
            </a:r>
            <a:r>
              <a:rPr lang="en-IN" dirty="0"/>
              <a:t>(y + " is the largest.");</a:t>
            </a:r>
          </a:p>
          <a:p>
            <a:pPr marL="0" indent="0">
              <a:buNone/>
            </a:pPr>
            <a:r>
              <a:rPr lang="en-IN" dirty="0"/>
              <a:t>            else</a:t>
            </a:r>
          </a:p>
          <a:p>
            <a:pPr marL="0" indent="0">
              <a:buNone/>
            </a:pPr>
            <a:r>
              <a:rPr lang="en-IN" dirty="0"/>
              <a:t>                </a:t>
            </a:r>
            <a:r>
              <a:rPr lang="en-IN" dirty="0" err="1"/>
              <a:t>System.out.println</a:t>
            </a:r>
            <a:r>
              <a:rPr lang="en-IN" dirty="0"/>
              <a:t>(z + " is the largest.");</a:t>
            </a:r>
          </a:p>
          <a:p>
            <a:pPr marL="0" indent="0">
              <a:buNone/>
            </a:pPr>
            <a:r>
              <a:rPr lang="en-IN" dirty="0"/>
              <a:t>        }</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1741823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2122</Words>
  <Application>Microsoft Office PowerPoint</Application>
  <PresentationFormat>Widescreen</PresentationFormat>
  <Paragraphs>278</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Verdana</vt:lpstr>
      <vt:lpstr>Office Theme</vt:lpstr>
      <vt:lpstr>PowerPoint Presentation</vt:lpstr>
      <vt:lpstr>PowerPoint Presentation</vt:lpstr>
      <vt:lpstr>PowerPoint Presentation</vt:lpstr>
      <vt:lpstr>How to display variables?</vt:lpstr>
      <vt:lpstr>PowerPoint Presentation</vt:lpstr>
      <vt:lpstr>PowerPoint Presentation</vt:lpstr>
      <vt:lpstr>PowerPoint Presentation</vt:lpstr>
      <vt:lpstr>PowerPoint Presentation</vt:lpstr>
      <vt:lpstr>Widening Casting </vt:lpstr>
      <vt:lpstr>Narrowing Casting </vt:lpstr>
      <vt:lpstr>Java Operators</vt:lpstr>
      <vt:lpstr>Arithmetic operators </vt:lpstr>
      <vt:lpstr>Assignment operators </vt:lpstr>
      <vt:lpstr>Comparison operators </vt:lpstr>
      <vt:lpstr>PowerPoint Presentation</vt:lpstr>
      <vt:lpstr>Logical operators </vt:lpstr>
      <vt:lpstr>PowerPoint Presentation</vt:lpstr>
      <vt:lpstr>Bitwise operators </vt:lpstr>
      <vt:lpstr>PowerPoint Presentation</vt:lpstr>
      <vt:lpstr>Miscellaneous Operators </vt:lpstr>
      <vt:lpstr>PowerPoint Presentation</vt:lpstr>
      <vt:lpstr>PowerPoint Presentation</vt:lpstr>
      <vt:lpstr>PowerPoint Presentation</vt:lpstr>
      <vt:lpstr>PowerPoint Presentation</vt:lpstr>
      <vt:lpstr>User Input in Java </vt:lpstr>
      <vt:lpstr>How to Use Scanner Class to Take User Input? </vt:lpstr>
      <vt:lpstr>PowerPoint Presentation</vt:lpstr>
      <vt:lpstr>PowerPoint Presentation</vt:lpstr>
      <vt:lpstr>PowerPoint Presentation</vt:lpstr>
      <vt:lpstr>PowerPoint Presentation</vt:lpstr>
      <vt:lpstr>Java Loops </vt:lpstr>
      <vt:lpstr>for loop</vt:lpstr>
      <vt:lpstr>PowerPoint Presentation</vt:lpstr>
      <vt:lpstr>Loop Control Statements </vt:lpstr>
      <vt:lpstr>Java - Decision Making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Amol Kamble</dc:creator>
  <cp:lastModifiedBy>Amol Kamble</cp:lastModifiedBy>
  <cp:revision>20</cp:revision>
  <dcterms:created xsi:type="dcterms:W3CDTF">2025-01-13T04:30:33Z</dcterms:created>
  <dcterms:modified xsi:type="dcterms:W3CDTF">2025-01-20T05:16:46Z</dcterms:modified>
</cp:coreProperties>
</file>