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7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" y="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AA835-C36E-418E-8F20-E1C6E2B2B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23985-4E38-43F9-9D1D-DE08233B4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0E2A4-70FF-4524-90E3-F2847D1E7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C4B94-BD89-4267-9477-ACDDEE412DA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9DDB6-52B4-4E82-AE8E-F9C4828E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F93E4-0DA7-437F-8482-8744D3DD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F2F6-F184-455B-9687-5DF6C938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416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05F8D-C8B7-4CFB-9622-DFEFBCDA0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043EC-8E7D-45BE-8790-D1860FBCB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0D792-F72E-44B6-AA79-61F5F7CA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C4B94-BD89-4267-9477-ACDDEE412DA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9CC9A-5E78-4BDB-8C4F-FC980611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84B09-0F32-4432-82E0-A11072380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F2F6-F184-455B-9687-5DF6C938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323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34BA8-460F-4B5A-BD04-2F7C7A88B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A75CF-AF08-44A3-995B-7278361F4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3BBDC-3F34-47CD-AC3A-A2A5A6728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C4B94-BD89-4267-9477-ACDDEE412DA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E1EC1-E8FF-4A86-9172-0D6C0F76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6CABF-2980-4B2D-8057-046FC7FE0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F2F6-F184-455B-9687-5DF6C938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805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8F5CC-ACEF-4372-BBEB-039E753F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E49D8-3591-4D25-B201-8A6EDA44A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C3AB2-F5E5-4212-B77F-AFBB73F03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0BC52-1477-4414-B2BE-15A2C9A10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C4B94-BD89-4267-9477-ACDDEE412DA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0A9E2-CA67-4FDA-A71D-64B54A6DE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5A649-D9B1-46FC-BAAE-3C507DF8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F2F6-F184-455B-9687-5DF6C938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679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AC4C-FF03-42CC-B797-6247BCC0D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EA7F4-099E-4EA0-B151-4B5549C8D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5AE71-932E-4084-ADBB-9C889A3B7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B99972-CA56-434D-BAC2-893A75EB06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2E3D47-0251-4035-8C56-669160032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A98E2F-0B71-4939-9F60-8730CCF3B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C4B94-BD89-4267-9477-ACDDEE412DA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2B7082-E860-4D2A-AC16-D20EACAFA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C05624-C0A1-4E12-8BE9-6D4057F7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F2F6-F184-455B-9687-5DF6C938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831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37D5E-76FE-4DD5-B620-DCF4E9C2F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5174A4-07B4-4056-807B-3D8C38D4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C4B94-BD89-4267-9477-ACDDEE412DA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F9CFB2-58AF-4841-BF46-0019F4B20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B1667-C74D-48EB-A7B4-8AB8791D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F2F6-F184-455B-9687-5DF6C938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855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BAC89A-A8E2-4474-BB0F-B12BB97D6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C4B94-BD89-4267-9477-ACDDEE412DA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E8EDE9-7B8C-49C2-A117-E996E9FBB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9A662-3713-45A2-B73C-58BF34F51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F2F6-F184-455B-9687-5DF6C938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761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C449D-FEBE-45CA-A48E-D8284280C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7305B-C922-4FE0-A308-8CA51D1AC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1B891-8CA2-4177-B06F-E9612FDBF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20764-0962-4017-976E-56118410B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C4B94-BD89-4267-9477-ACDDEE412DA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8C84F-A722-4C9A-98AD-28195F941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664C8-06A9-4C7B-97C2-A2A08B3D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F2F6-F184-455B-9687-5DF6C938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07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84EF5-1782-4190-B096-E32844AA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315B0-5D87-49B0-817D-C1519DCED1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171E4-F677-4B29-9D52-E0BA10E9D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584E5-131E-4CC4-B575-735A6FD4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C4B94-BD89-4267-9477-ACDDEE412DA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C3463-8603-43E8-92F3-0A93E8AE5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FD55F-924A-4667-BEA9-1D79BE670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F2F6-F184-455B-9687-5DF6C938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674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EF1F7-C9D8-4A03-A9C4-F2568245D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778AF-633F-4A3E-BF2E-1FD2A0B01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BB0A5-E447-4F09-87D0-6A3AFCF3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C4B94-BD89-4267-9477-ACDDEE412DA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BABD5-D230-448D-8F19-801146CC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25E5A-7812-40C8-9C6F-B116CA9A0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F2F6-F184-455B-9687-5DF6C938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252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9337B2-856D-4D33-B8BD-32831059A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B576AB-B67D-4E18-8DF9-B2CD5BF20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09580-1C9E-40C4-9A1F-1DF4742B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C4B94-BD89-4267-9477-ACDDEE412DA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1E3A3-4B67-4D43-AAC2-5F86EEE5A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14AAF-9952-4417-88FA-F7C2DF347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1F2F6-F184-455B-9687-5DF6C938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63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15061B-32A4-436C-A75B-F379D4F1F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2DA3A-57FE-40C5-8125-DBDC3E046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BBE3E-E56D-43B7-8DAD-3F23A47298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C4B94-BD89-4267-9477-ACDDEE412DA6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FF26F-3458-4A6E-AC99-A8377C0C1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76F7E-4277-44AC-BAAC-B97787450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1F2F6-F184-455B-9687-5DF6C938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40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D44890-AA9E-4B3B-9EE7-7D1DFCFFD5FB}"/>
              </a:ext>
            </a:extLst>
          </p:cNvPr>
          <p:cNvSpPr/>
          <p:nvPr/>
        </p:nvSpPr>
        <p:spPr>
          <a:xfrm>
            <a:off x="415909" y="375600"/>
            <a:ext cx="10880448" cy="5514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Overview of Java Constructors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a Constructor?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special method used to initialize objects.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Automatically called when an object is created.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Same name as the class.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return type, not even 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IN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 be default or parameterized.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712544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7FBF5-4463-4156-9064-63E0981A4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67" y="559533"/>
            <a:ext cx="10515600" cy="4351338"/>
          </a:xfrm>
        </p:spPr>
        <p:txBody>
          <a:bodyPr/>
          <a:lstStyle/>
          <a:p>
            <a:r>
              <a:rPr lang="en-IN" sz="4000" b="1" dirty="0"/>
              <a:t>Default Constructor</a:t>
            </a:r>
            <a:endParaRPr lang="en-IN" sz="3200" dirty="0"/>
          </a:p>
          <a:p>
            <a:pPr lvl="0"/>
            <a:r>
              <a:rPr lang="en-IN" sz="4000" b="1" dirty="0"/>
              <a:t>Definition:</a:t>
            </a:r>
            <a:endParaRPr lang="en-IN" sz="3600" dirty="0"/>
          </a:p>
          <a:p>
            <a:pPr lvl="1"/>
            <a:r>
              <a:rPr lang="en-IN" sz="3600" dirty="0"/>
              <a:t>A constructor without parameters.</a:t>
            </a:r>
            <a:endParaRPr lang="en-IN" sz="3200" dirty="0"/>
          </a:p>
          <a:p>
            <a:pPr lvl="1"/>
            <a:r>
              <a:rPr lang="en-IN" sz="3600" dirty="0"/>
              <a:t>Automatically provided by Java if no constructors are defined in the class.</a:t>
            </a:r>
            <a:endParaRPr lang="en-IN" sz="3200" dirty="0"/>
          </a:p>
          <a:p>
            <a:pPr lvl="0"/>
            <a:r>
              <a:rPr lang="en-IN" sz="4000" b="1" dirty="0"/>
              <a:t>Purpose:</a:t>
            </a:r>
            <a:endParaRPr lang="en-IN" sz="3600" dirty="0"/>
          </a:p>
          <a:p>
            <a:pPr lvl="1"/>
            <a:r>
              <a:rPr lang="en-IN" sz="3600" dirty="0"/>
              <a:t>Initializes object with default values.</a:t>
            </a: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0713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8EF68-9ED1-43D7-BB16-E77B79E8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45" y="98474"/>
            <a:ext cx="11199055" cy="6078489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Example Code: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AB7410-6A43-4086-947E-8105A8EE2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27" y="831195"/>
            <a:ext cx="6570236" cy="575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573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E561C-3BE4-45C7-8B5D-15A7785C6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222" y="334450"/>
            <a:ext cx="10515600" cy="4351338"/>
          </a:xfrm>
        </p:spPr>
        <p:txBody>
          <a:bodyPr>
            <a:normAutofit/>
          </a:bodyPr>
          <a:lstStyle/>
          <a:p>
            <a:r>
              <a:rPr lang="en-US" sz="3600" b="1" dirty="0"/>
              <a:t>Parameterized Constructor</a:t>
            </a:r>
          </a:p>
          <a:p>
            <a:r>
              <a:rPr lang="en-US" sz="3600" b="1" dirty="0"/>
              <a:t>Definition:</a:t>
            </a:r>
            <a:endParaRPr lang="en-US" sz="3600" dirty="0"/>
          </a:p>
          <a:p>
            <a:pPr lvl="1"/>
            <a:r>
              <a:rPr lang="en-US" sz="3200" dirty="0"/>
              <a:t>A constructor with parameters.</a:t>
            </a:r>
          </a:p>
          <a:p>
            <a:pPr lvl="1"/>
            <a:r>
              <a:rPr lang="en-US" sz="3200" dirty="0"/>
              <a:t>Used to initialize objects with specific values.</a:t>
            </a:r>
          </a:p>
          <a:p>
            <a:r>
              <a:rPr lang="en-US" sz="3600" b="1" dirty="0"/>
              <a:t>Purpose:</a:t>
            </a:r>
            <a:endParaRPr lang="en-US" sz="3600" dirty="0"/>
          </a:p>
          <a:p>
            <a:pPr lvl="1"/>
            <a:r>
              <a:rPr lang="en-US" sz="3200" dirty="0"/>
              <a:t>Provides flexibility to set values during object creation.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714848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ECDE906-7E48-460D-BCBE-B04F1EB062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" y="161205"/>
            <a:ext cx="19319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Code: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A0747-D0B9-42BE-814F-2B9D5E4D3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07" y="966443"/>
            <a:ext cx="7685304" cy="57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04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0B4676-AF3E-42B3-8E38-1943D1FDAB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2548370"/>
              </p:ext>
            </p:extLst>
          </p:nvPr>
        </p:nvGraphicFramePr>
        <p:xfrm>
          <a:off x="373966" y="2423160"/>
          <a:ext cx="11696115" cy="2880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31609">
                  <a:extLst>
                    <a:ext uri="{9D8B030D-6E8A-4147-A177-3AD203B41FA5}">
                      <a16:colId xmlns:a16="http://schemas.microsoft.com/office/drawing/2014/main" val="3367647875"/>
                    </a:ext>
                  </a:extLst>
                </a:gridCol>
                <a:gridCol w="3559127">
                  <a:extLst>
                    <a:ext uri="{9D8B030D-6E8A-4147-A177-3AD203B41FA5}">
                      <a16:colId xmlns:a16="http://schemas.microsoft.com/office/drawing/2014/main" val="788777088"/>
                    </a:ext>
                  </a:extLst>
                </a:gridCol>
                <a:gridCol w="6105379">
                  <a:extLst>
                    <a:ext uri="{9D8B030D-6E8A-4147-A177-3AD203B41FA5}">
                      <a16:colId xmlns:a16="http://schemas.microsoft.com/office/drawing/2014/main" val="3066762193"/>
                    </a:ext>
                  </a:extLst>
                </a:gridCol>
              </a:tblGrid>
              <a:tr h="523702">
                <a:tc>
                  <a:txBody>
                    <a:bodyPr/>
                    <a:lstStyle/>
                    <a:p>
                      <a:r>
                        <a:rPr lang="en-IN" sz="2400" b="1" dirty="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Default Constructor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Parameterized Constructor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729846"/>
                  </a:ext>
                </a:extLst>
              </a:tr>
              <a:tr h="523702">
                <a:tc>
                  <a:txBody>
                    <a:bodyPr/>
                    <a:lstStyle/>
                    <a:p>
                      <a:r>
                        <a:rPr lang="en-IN" sz="2400"/>
                        <a:t>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Accepts parameters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8400121"/>
                  </a:ext>
                </a:extLst>
              </a:tr>
              <a:tr h="916478">
                <a:tc>
                  <a:txBody>
                    <a:bodyPr/>
                    <a:lstStyle/>
                    <a:p>
                      <a:r>
                        <a:rPr lang="en-IN" sz="2400"/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Fixed default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Custom values during object creation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361282"/>
                  </a:ext>
                </a:extLst>
              </a:tr>
              <a:tr h="916478">
                <a:tc>
                  <a:txBody>
                    <a:bodyPr/>
                    <a:lstStyle/>
                    <a:p>
                      <a:r>
                        <a:rPr lang="en-IN" sz="2400" dirty="0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Basic object initialization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Advanced initialization with specific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08943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1EFCBE4-E5E5-4AE9-A7C3-1BBFC853C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00821"/>
            <a:ext cx="1847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A17CB0-2FA8-4716-907A-2030BEC99353}"/>
              </a:ext>
            </a:extLst>
          </p:cNvPr>
          <p:cNvSpPr/>
          <p:nvPr/>
        </p:nvSpPr>
        <p:spPr>
          <a:xfrm>
            <a:off x="487356" y="816155"/>
            <a:ext cx="55217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/>
              <a:t>Comparison of Constructors</a:t>
            </a:r>
          </a:p>
        </p:txBody>
      </p:sp>
    </p:spTree>
    <p:extLst>
      <p:ext uri="{BB962C8B-B14F-4D97-AF65-F5344CB8AC3E}">
        <p14:creationId xmlns:p14="http://schemas.microsoft.com/office/powerpoint/2010/main" val="2056520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A4D749E-F2C0-47DA-863B-01E6D1991F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79879"/>
            <a:ext cx="8763938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Variable in Java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variable shared among all instances of a class.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Declared using the keyword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static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Characteristics: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in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area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per object.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Accessed using the class name or directly inside the class.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C6C07D-4CF1-4F3B-B19E-F1856857372D}"/>
              </a:ext>
            </a:extLst>
          </p:cNvPr>
          <p:cNvSpPr/>
          <p:nvPr/>
        </p:nvSpPr>
        <p:spPr>
          <a:xfrm>
            <a:off x="262597" y="4165121"/>
            <a:ext cx="1166680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Advantages of Static Variable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Saves memory as it is shared across all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Useful for counters, configuration values, or shared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Eliminates the need for duplicating variables in multiple objects.</a:t>
            </a:r>
          </a:p>
        </p:txBody>
      </p:sp>
    </p:spTree>
    <p:extLst>
      <p:ext uri="{BB962C8B-B14F-4D97-AF65-F5344CB8AC3E}">
        <p14:creationId xmlns:p14="http://schemas.microsoft.com/office/powerpoint/2010/main" val="3693488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83DEE-426E-4FAC-8F98-9BB89AD1C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950" y="151570"/>
            <a:ext cx="10515600" cy="4351338"/>
          </a:xfrm>
        </p:spPr>
        <p:txBody>
          <a:bodyPr/>
          <a:lstStyle/>
          <a:p>
            <a:r>
              <a:rPr lang="en-US" dirty="0"/>
              <a:t>Example Code for Static Variable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5C3DE7-7967-40C1-B52A-0A70A7EFF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72" y="807496"/>
            <a:ext cx="8789655" cy="567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434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ED155-E45F-4931-A841-9B9772F21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289" y="264111"/>
            <a:ext cx="10515600" cy="4351338"/>
          </a:xfrm>
        </p:spPr>
        <p:txBody>
          <a:bodyPr/>
          <a:lstStyle/>
          <a:p>
            <a:r>
              <a:rPr lang="en-US" b="1" dirty="0"/>
              <a:t>Instance Variables</a:t>
            </a:r>
          </a:p>
          <a:p>
            <a:r>
              <a:rPr lang="en-US" b="1" dirty="0"/>
              <a:t>Definition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Instance variables are declared inside a class but outside any method or constructor. Each object has its own copy.</a:t>
            </a:r>
          </a:p>
          <a:p>
            <a:r>
              <a:rPr lang="en-US" b="1" dirty="0"/>
              <a:t>Key Points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Declared in a class.</a:t>
            </a:r>
          </a:p>
          <a:p>
            <a:pPr lvl="1"/>
            <a:r>
              <a:rPr lang="en-US" dirty="0"/>
              <a:t>Belong to each object.</a:t>
            </a:r>
          </a:p>
          <a:p>
            <a:pPr lvl="1"/>
            <a:r>
              <a:rPr lang="en-US" dirty="0"/>
              <a:t>Default values are assigned based on the data type.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544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D6A80-616C-44E5-A99A-8F0EA8092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56" y="250043"/>
            <a:ext cx="10515600" cy="4351338"/>
          </a:xfrm>
        </p:spPr>
        <p:txBody>
          <a:bodyPr/>
          <a:lstStyle/>
          <a:p>
            <a:r>
              <a:rPr lang="en-US" dirty="0"/>
              <a:t>Example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A53B4F-A43D-45A9-9C67-7D2890AF1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55" y="965357"/>
            <a:ext cx="9473419" cy="572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971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1A00B74-ED94-4EF0-B5A8-0960325D11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951" y="158348"/>
            <a:ext cx="10530703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 declared with the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static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keyword belong to the class and can be called without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creating an object.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Points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only static data.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use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super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utility or helper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04030D-486B-4CAB-A322-73C0D9802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037" y="3553603"/>
            <a:ext cx="7909620" cy="330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26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65A55-38FF-47F1-AE41-5356ABA59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Instance Methods</a:t>
            </a:r>
          </a:p>
          <a:p>
            <a:r>
              <a:rPr lang="en-US" b="1" dirty="0"/>
              <a:t>Definition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Methods that operate on the instance variables of a class.</a:t>
            </a:r>
          </a:p>
          <a:p>
            <a:r>
              <a:rPr lang="en-US" b="1" dirty="0"/>
              <a:t>Key Points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Called using an object of the class.</a:t>
            </a:r>
          </a:p>
          <a:p>
            <a:pPr lvl="1"/>
            <a:r>
              <a:rPr lang="en-US" dirty="0"/>
              <a:t>Can access both instance and static variables.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A96E02-7351-4846-B4F0-374C72322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03" y="2735447"/>
            <a:ext cx="5385267" cy="410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0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4D15C-A27E-4FB7-8F27-75004EC6E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4351338"/>
          </a:xfrm>
        </p:spPr>
        <p:txBody>
          <a:bodyPr/>
          <a:lstStyle/>
          <a:p>
            <a:r>
              <a:rPr lang="en-US" b="1" dirty="0"/>
              <a:t>Language Fundamentals: Structure of Memory</a:t>
            </a:r>
          </a:p>
          <a:p>
            <a:r>
              <a:rPr lang="en-US" b="1" dirty="0"/>
              <a:t>Key Points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Heap Memory</a:t>
            </a:r>
            <a:r>
              <a:rPr lang="en-US" dirty="0"/>
              <a:t>: Stores objects and instance variables.</a:t>
            </a:r>
          </a:p>
          <a:p>
            <a:pPr lvl="1"/>
            <a:r>
              <a:rPr lang="en-US" b="1" dirty="0"/>
              <a:t>Stack Memory</a:t>
            </a:r>
            <a:r>
              <a:rPr lang="en-US" dirty="0"/>
              <a:t>: Stores method calls and local variables.</a:t>
            </a:r>
          </a:p>
          <a:p>
            <a:pPr lvl="1"/>
            <a:r>
              <a:rPr lang="en-US" b="1" dirty="0"/>
              <a:t>Method Area</a:t>
            </a:r>
            <a:r>
              <a:rPr lang="en-US" dirty="0"/>
              <a:t>: Stores class-level data and static variables.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816B86-7922-47B4-881C-95AE80A43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49" y="2523998"/>
            <a:ext cx="8738142" cy="405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66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www.researchgate.net/profile/Paula-Pufek/publication/334417726/figure/fig1/AS:985246916952064@1611912578345/Crucial-components-of-Java-Virtual-Machine-related-to-memory-management.png">
            <a:extLst>
              <a:ext uri="{FF2B5EF4-FFF2-40B4-BE49-F238E27FC236}">
                <a16:creationId xmlns:a16="http://schemas.microsoft.com/office/drawing/2014/main" id="{ED2B1665-6215-4404-9BC1-B92B12F10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09" y="1112446"/>
            <a:ext cx="10841782" cy="4633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31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06442-5467-48E6-837A-DC357F81D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019" y="179705"/>
            <a:ext cx="10515600" cy="4351338"/>
          </a:xfrm>
        </p:spPr>
        <p:txBody>
          <a:bodyPr/>
          <a:lstStyle/>
          <a:p>
            <a:r>
              <a:rPr lang="en-US" b="1" dirty="0"/>
              <a:t>Parameter Passing in Java</a:t>
            </a:r>
          </a:p>
          <a:p>
            <a:r>
              <a:rPr lang="en-US" b="1" dirty="0"/>
              <a:t>Definition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Java uses pass-by-value for both primitive and object references.</a:t>
            </a:r>
          </a:p>
          <a:p>
            <a:r>
              <a:rPr lang="en-US" b="1" dirty="0"/>
              <a:t>Key Points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For primitives: A copy of the value is passed.</a:t>
            </a:r>
          </a:p>
          <a:p>
            <a:pPr lvl="1"/>
            <a:r>
              <a:rPr lang="en-US" dirty="0"/>
              <a:t>For objects: A copy of the reference is passed.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41C6D2-A300-4327-A5CF-3F11DD817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19" y="2807784"/>
            <a:ext cx="5423404" cy="405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18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arameter Passing Techniques in Java with Examples - Javatpoint">
            <a:extLst>
              <a:ext uri="{FF2B5EF4-FFF2-40B4-BE49-F238E27FC236}">
                <a16:creationId xmlns:a16="http://schemas.microsoft.com/office/drawing/2014/main" id="{AE466097-BD02-4B46-A1B6-9120F00E05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1"/>
          <a:stretch/>
        </p:blipFill>
        <p:spPr bwMode="auto">
          <a:xfrm>
            <a:off x="1654493" y="568569"/>
            <a:ext cx="9200493" cy="572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5412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B889B3C-DC47-446D-A005-50974EBFF9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0"/>
            <a:ext cx="10719582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Wrapper Classes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Wrapper classes provide a way to use primitive data types as objects.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Points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wrappers: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Integer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Double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Boolean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collections and type conversions.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2C0F88-3A80-484C-B0F9-65A16FE14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45" y="2626570"/>
            <a:ext cx="11733417" cy="356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014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DFDB0-FFCA-4129-9460-B3C61E17D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367"/>
            <a:ext cx="10515600" cy="4351338"/>
          </a:xfrm>
        </p:spPr>
        <p:txBody>
          <a:bodyPr/>
          <a:lstStyle/>
          <a:p>
            <a:r>
              <a:rPr lang="en-US" b="1" dirty="0"/>
              <a:t>Inner Classes</a:t>
            </a:r>
          </a:p>
          <a:p>
            <a:r>
              <a:rPr lang="en-US" b="1" dirty="0"/>
              <a:t>Definition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A class defined within another class.</a:t>
            </a:r>
          </a:p>
          <a:p>
            <a:r>
              <a:rPr lang="en-US" b="1" dirty="0"/>
              <a:t>Key Points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Types: </a:t>
            </a:r>
            <a:r>
              <a:rPr lang="en-US" b="1" dirty="0"/>
              <a:t>Static Inner Class</a:t>
            </a:r>
            <a:r>
              <a:rPr lang="en-US" dirty="0"/>
              <a:t>, </a:t>
            </a:r>
            <a:r>
              <a:rPr lang="en-US" b="1" dirty="0"/>
              <a:t>Non-Static Inner Class</a:t>
            </a:r>
            <a:r>
              <a:rPr lang="en-US" dirty="0"/>
              <a:t>, </a:t>
            </a:r>
            <a:r>
              <a:rPr lang="en-US" b="1" dirty="0"/>
              <a:t>Local Inner Class</a:t>
            </a:r>
            <a:r>
              <a:rPr lang="en-US" dirty="0"/>
              <a:t>, </a:t>
            </a:r>
            <a:r>
              <a:rPr lang="en-US" b="1" dirty="0"/>
              <a:t>Anonymous Inner Class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Helps logically group classes.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D8B52C-D773-4BFD-AD4E-7C579E299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34" y="3098439"/>
            <a:ext cx="6489423" cy="370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723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D28361C024A94DAB34F80CF35DD1CE" ma:contentTypeVersion="9" ma:contentTypeDescription="Create a new document." ma:contentTypeScope="" ma:versionID="6dc074fa400dd09808cebfae9c2ada63">
  <xsd:schema xmlns:xsd="http://www.w3.org/2001/XMLSchema" xmlns:xs="http://www.w3.org/2001/XMLSchema" xmlns:p="http://schemas.microsoft.com/office/2006/metadata/properties" xmlns:ns3="6dabe999-eec8-4344-bda2-c9c1fb026c5a" targetNamespace="http://schemas.microsoft.com/office/2006/metadata/properties" ma:root="true" ma:fieldsID="bc682f5eb1c82611d962c3f261483e69" ns3:_="">
    <xsd:import namespace="6dabe999-eec8-4344-bda2-c9c1fb026c5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be999-eec8-4344-bda2-c9c1fb026c5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427F56-1579-4561-900D-8D0BF19A28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abe999-eec8-4344-bda2-c9c1fb026c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0BBA92C-02B4-456D-B284-638F3C592C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919205-488A-44CE-AA33-9FB9014A77CA}">
  <ds:schemaRefs>
    <ds:schemaRef ds:uri="http://purl.org/dc/dcmitype/"/>
    <ds:schemaRef ds:uri="http://schemas.microsoft.com/office/2006/metadata/properties"/>
    <ds:schemaRef ds:uri="http://purl.org/dc/terms/"/>
    <ds:schemaRef ds:uri="6dabe999-eec8-4344-bda2-c9c1fb026c5a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513</Words>
  <Application>Microsoft Office PowerPoint</Application>
  <PresentationFormat>Widescreen</PresentationFormat>
  <Paragraphs>93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Unicode MS</vt:lpstr>
      <vt:lpstr>Calibri</vt:lpstr>
      <vt:lpstr>Calibri Light</vt:lpstr>
      <vt:lpstr>Courier New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Arijit Dutta</dc:creator>
  <cp:lastModifiedBy>Arijit Dutta</cp:lastModifiedBy>
  <cp:revision>3</cp:revision>
  <dcterms:created xsi:type="dcterms:W3CDTF">2025-01-21T03:48:14Z</dcterms:created>
  <dcterms:modified xsi:type="dcterms:W3CDTF">2025-01-21T03:59:00Z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0x0101002AD28361C024A94DAB34F80CF35DD1CE</vt:lpwstr>
  </property>
</Properties>
</file>